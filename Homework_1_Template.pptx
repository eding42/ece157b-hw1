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795"/>
    <p:restoredTop sz="94660"/>
  </p:normalViewPr>
  <p:slideViewPr>
    <p:cSldViewPr snapToGrid="0">
      <p:cViewPr>
        <p:scale>
          <a:sx n="97" d="100"/>
          <a:sy n="97" d="100"/>
        </p:scale>
        <p:origin x="1336" y="15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Additionally, there was a decrease in quality as well, with the 1000 vocab size trial resulting in more broken sentences and poor quality formatting.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2"/>
            <a:ext cx="8520600" cy="3399873"/>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US" dirty="0"/>
              <a:t>The ## characters represent sub-word units that are continuations of a word. This convention is used to indicate that these tokens are not standalone words but are part of a larger word. During the encoding process, </a:t>
            </a:r>
            <a:r>
              <a:rPr lang="en-US" dirty="0" err="1"/>
              <a:t>WordPiece</a:t>
            </a:r>
            <a:r>
              <a:rPr lang="en-US" dirty="0"/>
              <a:t> splits words into </a:t>
            </a:r>
            <a:r>
              <a:rPr lang="en-US" dirty="0" err="1"/>
              <a:t>subwords</a:t>
            </a:r>
            <a:r>
              <a:rPr lang="en-US" dirty="0"/>
              <a:t> or characters based on the frequency of substrings in the training set. If a word cannot be represented by a single token in the vocabulary, it is broken into smaller </a:t>
            </a:r>
            <a:r>
              <a:rPr lang="en-US" dirty="0" err="1"/>
              <a:t>subwords</a:t>
            </a:r>
            <a:r>
              <a:rPr lang="en-US" dirty="0"/>
              <a:t>. Any subsequent </a:t>
            </a:r>
            <a:r>
              <a:rPr lang="en-US" dirty="0" err="1"/>
              <a:t>subword</a:t>
            </a:r>
            <a:r>
              <a:rPr lang="en-US" dirty="0"/>
              <a:t> parts are prefixed with ## to indicate that they are continuations of the previous token. For example, ”running” could be represented as [“run”,”##</a:t>
            </a:r>
            <a:r>
              <a:rPr lang="en-US" dirty="0" err="1"/>
              <a:t>ning</a:t>
            </a:r>
            <a:r>
              <a:rPr lang="en-US" dirty="0"/>
              <a:t>”]. Tokens that contain the ## string are treated as part of the previous token and concatenated directly.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496642"/>
            <a:ext cx="8520600" cy="3566218"/>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600" dirty="0"/>
              <a:t>(1. Explain </a:t>
            </a:r>
            <a:r>
              <a:rPr lang="en-US" sz="600" i="1" dirty="0"/>
              <a:t>forward</a:t>
            </a:r>
            <a:r>
              <a:rPr lang="en-US" sz="600" dirty="0"/>
              <a:t> method.): In </a:t>
            </a:r>
            <a:r>
              <a:rPr lang="en-US" sz="600" dirty="0" err="1"/>
              <a:t>PyTorch</a:t>
            </a:r>
            <a:r>
              <a:rPr lang="en-US" sz="600" dirty="0"/>
              <a:t>, the forward function defines the computations that a model performs when it makes an initial forward pass through the data when training. It processes input data step by step, propagates the learnings through the network layers, and then produces an output, such as logits for the next token prediction, and updates the hidden state in the case of the RNN. </a:t>
            </a:r>
          </a:p>
          <a:p>
            <a:pPr marL="0" lvl="0" indent="0" algn="l" rtl="0">
              <a:lnSpc>
                <a:spcPct val="100000"/>
              </a:lnSpc>
              <a:spcBef>
                <a:spcPts val="0"/>
              </a:spcBef>
              <a:spcAft>
                <a:spcPts val="1200"/>
              </a:spcAft>
              <a:buNone/>
            </a:pPr>
            <a:r>
              <a:rPr lang="en-US" sz="600" dirty="0"/>
              <a:t>(2. Copy and paste TODOs and explain each.) </a:t>
            </a: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Embed the input tokens using the embedding layer – </a:t>
            </a:r>
          </a:p>
          <a:p>
            <a:pPr marL="0" indent="0">
              <a:lnSpc>
                <a:spcPct val="100000"/>
              </a:lnSpc>
              <a:spcAft>
                <a:spcPts val="1200"/>
              </a:spcAft>
              <a:buNone/>
            </a:pP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embedding</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x</a:t>
            </a:r>
            <a:r>
              <a:rPr lang="en-US" sz="600" b="0" dirty="0">
                <a:solidFill>
                  <a:srgbClr val="D4D4D4"/>
                </a:solidFill>
                <a:effectLst/>
                <a:latin typeface="Menlo" panose="020B0609030804020204" pitchFamily="49" charset="0"/>
              </a:rPr>
              <a:t>)</a:t>
            </a:r>
            <a:endParaRPr lang="en-US" sz="600" b="1"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This line converts token IDs into dense vectors, converting each token ID into it’s corresponding embedding vector, which encodes semantic information about the token.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embedded input tokens into the recurrent module along with the previous</a:t>
            </a:r>
            <a:r>
              <a:rPr lang="en-US" sz="600" b="1" dirty="0">
                <a:solidFill>
                  <a:srgbClr val="0D6401"/>
                </a:solidFill>
                <a:effectLst/>
                <a:latin typeface=".AppleSystemUIFontMonospaced"/>
              </a:rPr>
              <a:t> </a:t>
            </a:r>
            <a:r>
              <a:rPr lang="en-US" sz="600" b="1" dirty="0">
                <a:solidFill>
                  <a:srgbClr val="0D6401"/>
                </a:solidFill>
                <a:latin typeface=".AppleSystemUIFontMonospaced"/>
              </a:rPr>
              <a:t>– </a:t>
            </a:r>
          </a:p>
          <a:p>
            <a:pPr marL="0" indent="0">
              <a:lnSpc>
                <a:spcPct val="100000"/>
              </a:lnSpc>
              <a:spcAft>
                <a:spcPts val="1200"/>
              </a:spcAft>
              <a:buNone/>
            </a:pP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rnn</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a:t>
            </a:r>
            <a:r>
              <a:rPr lang="en-US" sz="600" b="0" dirty="0" err="1">
                <a:solidFill>
                  <a:srgbClr val="9CDCFE"/>
                </a:solidFill>
                <a:effectLst/>
                <a:latin typeface="Menlo" panose="020B0609030804020204" pitchFamily="49" charset="0"/>
              </a:rPr>
              <a:t>prev_state</a:t>
            </a:r>
            <a:r>
              <a:rPr lang="en-US" sz="600" b="0" dirty="0">
                <a:solidFill>
                  <a:srgbClr val="D4D4D4"/>
                </a:solidFill>
                <a:effectLst/>
                <a:latin typeface="Menlo" panose="020B0609030804020204" pitchFamily="49" charset="0"/>
              </a:rPr>
              <a:t>)</a:t>
            </a:r>
            <a:endParaRPr lang="en-US" sz="600" b="1" dirty="0">
              <a:solidFill>
                <a:srgbClr val="0D6401"/>
              </a:solidFill>
              <a:latin typeface=".AppleSystemUIFontMonospaced"/>
            </a:endParaRPr>
          </a:p>
          <a:p>
            <a:pPr marL="0" indent="0">
              <a:lnSpc>
                <a:spcPct val="100000"/>
              </a:lnSpc>
              <a:spcAft>
                <a:spcPts val="1200"/>
              </a:spcAft>
              <a:buNone/>
            </a:pPr>
            <a:r>
              <a:rPr lang="en-US" sz="600" b="1" dirty="0">
                <a:solidFill>
                  <a:srgbClr val="0D6401"/>
                </a:solidFill>
                <a:latin typeface=".AppleSystemUIFontMonospaced"/>
              </a:rPr>
              <a:t>next, the model passes the embeddings through the recurrent layer, which is defined by the model we choose, passing in the previous state too in typical RNN style. This outputs not only the output for the layer but also the state, to be used in the next round.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final embedding vector into the linear layer to get the logits </a:t>
            </a:r>
          </a:p>
          <a:p>
            <a:pPr marL="0" indent="0">
              <a:lnSpc>
                <a:spcPct val="100000"/>
              </a:lnSpc>
              <a:spcAft>
                <a:spcPts val="1200"/>
              </a:spcAft>
              <a:buNone/>
            </a:pP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linear</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a:t>
            </a:r>
            <a:endParaRPr lang="en-US" sz="600"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The RNN output is passed into a linear (or fully connected) layer to generate logits, mapping the hidden state to a vector of size </a:t>
            </a:r>
            <a:r>
              <a:rPr lang="en-US" sz="600" b="1" dirty="0" err="1">
                <a:solidFill>
                  <a:srgbClr val="0D6401"/>
                </a:solidFill>
                <a:effectLst/>
                <a:latin typeface=".AppleSystemUIFontMonospaced"/>
              </a:rPr>
              <a:t>vocab_size</a:t>
            </a:r>
            <a:r>
              <a:rPr lang="en-US" sz="600" b="1" dirty="0">
                <a:solidFill>
                  <a:srgbClr val="0D6401"/>
                </a:solidFill>
                <a:latin typeface=".AppleSystemUIFontMonospaced"/>
              </a:rPr>
              <a:t>, which then represents a score for a token in the vocabulary. This is then used later to generate text.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Return the logits and the final states</a:t>
            </a:r>
          </a:p>
          <a:p>
            <a:pPr marL="0" indent="0">
              <a:lnSpc>
                <a:spcPct val="100000"/>
              </a:lnSpc>
              <a:spcAft>
                <a:spcPts val="1200"/>
              </a:spcAft>
              <a:buNone/>
            </a:pPr>
            <a:r>
              <a:rPr lang="en-US" sz="600" b="0" dirty="0">
                <a:solidFill>
                  <a:srgbClr val="C586C0"/>
                </a:solidFill>
                <a:effectLst/>
                <a:latin typeface="Menlo" panose="020B0609030804020204" pitchFamily="49" charset="0"/>
              </a:rPr>
              <a:t>return</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endParaRPr lang="en-US" sz="600" dirty="0">
              <a:solidFill>
                <a:srgbClr val="0D6401"/>
              </a:solidFill>
              <a:latin typeface=".AppleSystemUIFontMonospaced"/>
            </a:endParaRPr>
          </a:p>
          <a:p>
            <a:pPr marL="0" indent="0">
              <a:lnSpc>
                <a:spcPct val="100000"/>
              </a:lnSpc>
              <a:spcAft>
                <a:spcPts val="1200"/>
              </a:spcAft>
              <a:buNone/>
            </a:pPr>
            <a:r>
              <a:rPr lang="en-US" sz="600" dirty="0">
                <a:solidFill>
                  <a:srgbClr val="0D6401"/>
                </a:solidFill>
                <a:effectLst/>
                <a:latin typeface=".AppleSystemUIFontMonospaced"/>
              </a:rPr>
              <a:t> </a:t>
            </a:r>
            <a:r>
              <a:rPr lang="en-US" sz="600" b="1" dirty="0">
                <a:solidFill>
                  <a:srgbClr val="0D6401"/>
                </a:solidFill>
                <a:effectLst/>
                <a:latin typeface=".AppleSystemUIFontMonospaced"/>
              </a:rPr>
              <a:t>Final step is to return the data generated into the model., to be used for the next forward pass. </a:t>
            </a:r>
            <a:endParaRPr lang="en-US" sz="600" dirty="0">
              <a:solidFill>
                <a:srgbClr val="0D6401"/>
              </a:solidFill>
              <a:effectLst/>
              <a:latin typeface=".AppleSystemUIFontMonospaced"/>
            </a:endParaRPr>
          </a:p>
          <a:p>
            <a:pPr marL="0" lvl="0" indent="0" algn="l" rtl="0">
              <a:lnSpc>
                <a:spcPct val="100000"/>
              </a:lnSpc>
              <a:spcBef>
                <a:spcPts val="0"/>
              </a:spcBef>
              <a:spcAft>
                <a:spcPts val="1200"/>
              </a:spcAft>
              <a:buNone/>
            </a:pPr>
            <a:endParaRPr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en-US" dirty="0"/>
              <a:t>This is a critical step of training RNN models. Without the detach operation, the model would try to backpropagate through the entire history of the sequence using the generated graph of operations, which in an RNN can be unfeasibly long, leading to very large memory usage and long training times. We don’t need to backpropagate through the entire graph because we’ve already stored previous knowledge in the hidden state. However, we can’t start over with a blank state either, as the loss of context would reset the RNN’s memory. If you reset the state, that would mean the model forgets prior words, which hurts accuracy. Retaining but detaching the state between batches allows the model leverage the context without rebuilding the graph or starting fresh.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fontScale="85000" lnSpcReduction="10000"/>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US" sz="1200" dirty="0" err="1"/>
              <a:t>conferr</a:t>
            </a:r>
            <a:r>
              <a:rPr lang="en-US" sz="1200" dirty="0"/>
              <a:t> </a:t>
            </a:r>
            <a:r>
              <a:rPr lang="en-US" sz="1200" dirty="0" err="1"/>
              <a:t>circum</a:t>
            </a:r>
            <a:r>
              <a:rPr lang="en-US" sz="1200" dirty="0"/>
              <a:t> slumber immortal jollity craved archery </a:t>
            </a:r>
            <a:r>
              <a:rPr lang="en-US" sz="1200" dirty="0" err="1"/>
              <a:t>inacc</a:t>
            </a:r>
            <a:r>
              <a:rPr lang="en-US" sz="1200" dirty="0"/>
              <a:t> mistaking fragment </a:t>
            </a:r>
            <a:r>
              <a:rPr lang="en-US" sz="1200" dirty="0" err="1"/>
              <a:t>yor</a:t>
            </a:r>
            <a:r>
              <a:rPr lang="en-US" sz="1200" dirty="0"/>
              <a:t> begot prompts install wretches diverted dissuade </a:t>
            </a:r>
            <a:r>
              <a:rPr lang="en-US" sz="1200" dirty="0" err="1"/>
              <a:t>frozenoln</a:t>
            </a:r>
            <a:r>
              <a:rPr lang="en-US" sz="1200" dirty="0"/>
              <a:t> partisans reverberate senses intrude shipwright deceased </a:t>
            </a:r>
            <a:r>
              <a:rPr lang="en-US" sz="1200" dirty="0" err="1"/>
              <a:t>emphas</a:t>
            </a:r>
            <a:r>
              <a:rPr lang="en-US" sz="1200" dirty="0"/>
              <a:t> </a:t>
            </a:r>
            <a:r>
              <a:rPr lang="en-US" sz="1200" dirty="0" err="1"/>
              <a:t>unworth</a:t>
            </a:r>
            <a:r>
              <a:rPr lang="en-US" sz="1200" dirty="0"/>
              <a:t> </a:t>
            </a:r>
            <a:r>
              <a:rPr lang="en-US" sz="1200" dirty="0" err="1"/>
              <a:t>blastsiddenoops</a:t>
            </a:r>
            <a:endParaRPr lang="en-US"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fontScale="92500" lnSpcReduction="10000"/>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pardonnezions</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farthest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lafeu</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uplifted outstretch cleave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beauteousident</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foolination</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neg uncurrent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bondssoe</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fetters seat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cassandra</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pigeons straightway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pyrrh</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gyves assuredly spin swells wanderer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concl</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conclud</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girgon</a:t>
            </a:r>
            <a:endPar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endParaRPr>
          </a:p>
        </p:txBody>
      </p:sp>
      <p:sp>
        <p:nvSpPr>
          <p:cNvPr id="111" name="Google Shape;111;p20"/>
          <p:cNvSpPr txBox="1">
            <a:spLocks noGrp="1"/>
          </p:cNvSpPr>
          <p:nvPr>
            <p:ph type="body" idx="1"/>
          </p:nvPr>
        </p:nvSpPr>
        <p:spPr>
          <a:xfrm>
            <a:off x="311700" y="3462149"/>
            <a:ext cx="8520600" cy="1798963"/>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r>
              <a:rPr lang="en-US" sz="1200" dirty="0"/>
              <a:t>This text does not appear structured. Although the sample without training appears to contain full tokens, it does not produce anything similar to the play-like structure produced by the trained model. We see that neither of the two samples make much sense from a meaning perspective, with no discernible sentences, just a string of meaningless text. Although the vocabulary here does appear Shakespearean, that is the least that you would expect considering the corpus of training text is based on Shakespeare vocabulary. It does not have the structure or meaning that would make it resemble a </a:t>
            </a:r>
            <a:r>
              <a:rPr lang="en-US" sz="1200" dirty="0" err="1"/>
              <a:t>Shakespeareplay</a:t>
            </a:r>
            <a:r>
              <a:rPr lang="en-US" sz="1200" dirty="0"/>
              <a:t>. </a:t>
            </a: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1189375340"/>
              </p:ext>
            </p:extLst>
          </p:nvPr>
        </p:nvGraphicFramePr>
        <p:xfrm>
          <a:off x="311700" y="1547242"/>
          <a:ext cx="8571044" cy="3539082"/>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05674">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80211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11586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21728">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 First off, there are clear differences between whether we apply the learned weights or not. If we do not, we get strange output of mostly gibberish, with a tendency to repeat itself over and over again. I did try all three models and compared them to the RNN and the best model in terms of creating a coherent output was GRU, as it preserved some of the style and cadence of Shakespeare’s plays. The RNN preserved most of the tokens (not broken) but was not as good in terms of meaning, with LSTM being in the middle of the two. However, in general, there really wasn’t that much difference between the three, with none of the three being a satisfactory reproduction of Shakespeare’s works. </a:t>
                      </a:r>
                      <a:endParaRPr kumimoji="0" lang="en-US" sz="1000" b="1" i="0" u="none" strike="noStrike" kern="0" cap="none" spc="0" normalizeH="0" baseline="0" noProof="0" dirty="0">
                        <a:ln>
                          <a:noFill/>
                        </a:ln>
                        <a:solidFill>
                          <a:srgbClr val="EF6C00"/>
                        </a:solidFill>
                        <a:effectLst/>
                        <a:uLnTx/>
                        <a:uFillTx/>
                        <a:latin typeface="Courier New"/>
                        <a:cs typeface="Courier New"/>
                        <a:sym typeface="Courier New"/>
                      </a:endParaRP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398774"/>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a:p>
            <a:pPr marL="0" lvl="0" indent="0" algn="l" rtl="0">
              <a:spcBef>
                <a:spcPts val="0"/>
              </a:spcBef>
              <a:spcAft>
                <a:spcPts val="1200"/>
              </a:spcAft>
              <a:buNone/>
            </a:pPr>
            <a:r>
              <a:rPr lang="en-US" dirty="0"/>
              <a:t>My definition of ”better” is that the tokenizer can better represent the words in the sentence without needing to break the word up into different tokens. For example, I want a word like “machine” to be represented as a single token, instead of the combination of “</a:t>
            </a:r>
            <a:r>
              <a:rPr lang="en-US" dirty="0" err="1"/>
              <a:t>mach</a:t>
            </a:r>
            <a:r>
              <a:rPr lang="en-US" dirty="0"/>
              <a:t>” and “##</a:t>
            </a:r>
            <a:r>
              <a:rPr lang="en-US" dirty="0" err="1"/>
              <a:t>ine</a:t>
            </a:r>
            <a:r>
              <a:rPr lang="en-US" dirty="0"/>
              <a:t>”. Using this definition of better, we see that there’s a winner here; the Daily Dialog set is much better and does a better job of encoding my sentence. This is little surprise considering that my sentence is written very much in plain modern </a:t>
            </a:r>
            <a:r>
              <a:rPr lang="en-US" dirty="0" err="1"/>
              <a:t>english</a:t>
            </a:r>
            <a:r>
              <a:rPr lang="en-US" dirty="0"/>
              <a:t>, instead of Shakespearean prose. Therefore, the Daily Dialog dataset tokenizer is trained on a dataset closer to my sentence and does a better job of encoding it.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2302</TotalTime>
  <Words>2942</Words>
  <Application>Microsoft Macintosh PowerPoint</Application>
  <PresentationFormat>On-screen Show (16:9)</PresentationFormat>
  <Paragraphs>94</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Courier New</vt:lpstr>
      <vt:lpstr>Menlo</vt:lpstr>
      <vt:lpstr>Open Sans</vt:lpstr>
      <vt:lpstr>Arial</vt:lpstr>
      <vt:lpstr>PT Sans Narrow</vt:lpstr>
      <vt:lpstr>.AppleSystemUIFontMonospaced</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25</cp:revision>
  <dcterms:modified xsi:type="dcterms:W3CDTF">2025-01-21T21:59:56Z</dcterms:modified>
</cp:coreProperties>
</file>