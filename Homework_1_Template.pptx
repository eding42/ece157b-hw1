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60" r:id="rId5"/>
    <p:sldId id="261" r:id="rId6"/>
    <p:sldId id="263" r:id="rId7"/>
    <p:sldId id="264" r:id="rId8"/>
    <p:sldId id="265" r:id="rId9"/>
    <p:sldId id="266" r:id="rId10"/>
    <p:sldId id="267" r:id="rId11"/>
    <p:sldId id="268" r:id="rId12"/>
    <p:sldId id="262" r:id="rId13"/>
    <p:sldId id="270" r:id="rId14"/>
    <p:sldId id="272" r:id="rId15"/>
  </p:sldIdLst>
  <p:sldSz cx="9144000" cy="5143500" type="screen16x9"/>
  <p:notesSz cx="6858000" cy="9144000"/>
  <p:embeddedFontLst>
    <p:embeddedFont>
      <p:font typeface="Open Sans" panose="020B0606030504020204" pitchFamily="34" charset="0"/>
      <p:regular r:id="rId17"/>
      <p:bold r:id="rId18"/>
      <p:italic r:id="rId19"/>
      <p:boldItalic r:id="rId20"/>
    </p:embeddedFont>
    <p:embeddedFont>
      <p:font typeface="PT Sans Narrow" panose="020B0506020203020204" pitchFamily="34" charset="77"/>
      <p:regular r:id="rId21"/>
      <p:bold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2"/>
    <p:restoredTop sz="94737"/>
  </p:normalViewPr>
  <p:slideViewPr>
    <p:cSldViewPr snapToGrid="0">
      <p:cViewPr varScale="1">
        <p:scale>
          <a:sx n="194" d="100"/>
          <a:sy n="194" d="100"/>
        </p:scale>
        <p:origin x="1080" y="1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1ceb20a80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1ceb20a80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b1ceb20a80_0_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b1ceb20a80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b1ceb20a80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2b1ceb20a80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b1ceb20a80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b1ceb20a80_1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b1ceb20a80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b1ceb20a80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ceb20a80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ceb20a80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2b48426d89b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2b48426d89b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A</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a:t>Submitted By &lt;Student_Name&gt;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60649"/>
            <a:ext cx="8520600" cy="118375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1. Experiment with at least one value of the VOCAB_SIZE parameter other than the default 20,000. How does changing this value affect how much text is returned by the example batch decoding under </a:t>
            </a:r>
            <a:r>
              <a:rPr lang="en" sz="2200" i="1" dirty="0"/>
              <a:t>Generate input and target sequence</a:t>
            </a:r>
            <a:r>
              <a:rPr lang="en" sz="2200" dirty="0"/>
              <a:t>?</a:t>
            </a:r>
            <a:endParaRPr sz="2200" dirty="0"/>
          </a:p>
        </p:txBody>
      </p:sp>
      <p:sp>
        <p:nvSpPr>
          <p:cNvPr id="73" name="Google Shape;73;p14"/>
          <p:cNvSpPr txBox="1">
            <a:spLocks noGrp="1"/>
          </p:cNvSpPr>
          <p:nvPr>
            <p:ph type="body" idx="1"/>
          </p:nvPr>
        </p:nvSpPr>
        <p:spPr>
          <a:xfrm>
            <a:off x="311700" y="1244408"/>
            <a:ext cx="8520600" cy="332454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60015"/>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2200" dirty="0"/>
              <a:t>2. Our example code uses the </a:t>
            </a:r>
            <a:r>
              <a:rPr lang="en" sz="2200" dirty="0" err="1"/>
              <a:t>WordPiece</a:t>
            </a:r>
            <a:r>
              <a:rPr lang="en" sz="2200" dirty="0"/>
              <a:t> tokenizer to break up the text into numbered tokens for the model to learn. If you print the tokenizer vocabulary with </a:t>
            </a:r>
            <a:r>
              <a:rPr lang="en" sz="2200" dirty="0" err="1">
                <a:latin typeface="Courier New"/>
                <a:ea typeface="Courier New"/>
                <a:cs typeface="Courier New"/>
                <a:sym typeface="Courier New"/>
              </a:rPr>
              <a:t>tokenizer.get_vocab</a:t>
            </a:r>
            <a:r>
              <a:rPr lang="en" sz="2200" dirty="0">
                <a:latin typeface="Courier New"/>
                <a:ea typeface="Courier New"/>
                <a:cs typeface="Courier New"/>
                <a:sym typeface="Courier New"/>
              </a:rPr>
              <a:t>()</a:t>
            </a:r>
            <a:r>
              <a:rPr lang="en" sz="2200" dirty="0"/>
              <a:t> you will find that some tokens start with a “##”. What does this represent to </a:t>
            </a:r>
            <a:r>
              <a:rPr lang="en" sz="2200" dirty="0" err="1"/>
              <a:t>WordPiece</a:t>
            </a:r>
            <a:r>
              <a:rPr lang="en" sz="2200" dirty="0"/>
              <a:t> during text encoding and decoding?</a:t>
            </a:r>
            <a:endParaRPr sz="2200" dirty="0"/>
          </a:p>
        </p:txBody>
      </p:sp>
      <p:sp>
        <p:nvSpPr>
          <p:cNvPr id="79" name="Google Shape;79;p15"/>
          <p:cNvSpPr txBox="1">
            <a:spLocks noGrp="1"/>
          </p:cNvSpPr>
          <p:nvPr>
            <p:ph type="body" idx="1"/>
          </p:nvPr>
        </p:nvSpPr>
        <p:spPr>
          <a:xfrm>
            <a:off x="311700" y="1567543"/>
            <a:ext cx="8520600" cy="3001582"/>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7"/>
          <p:cNvSpPr txBox="1">
            <a:spLocks noGrp="1"/>
          </p:cNvSpPr>
          <p:nvPr>
            <p:ph type="title"/>
          </p:nvPr>
        </p:nvSpPr>
        <p:spPr>
          <a:xfrm>
            <a:off x="311700" y="80641"/>
            <a:ext cx="8520600" cy="1416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3. What does the </a:t>
            </a:r>
            <a:r>
              <a:rPr lang="en" sz="2200" dirty="0">
                <a:latin typeface="Courier New"/>
                <a:ea typeface="Courier New"/>
                <a:cs typeface="Courier New"/>
                <a:sym typeface="Courier New"/>
              </a:rPr>
              <a:t>forward</a:t>
            </a:r>
            <a:r>
              <a:rPr lang="en" sz="2200" dirty="0"/>
              <a:t> method of our recurrent model object do? Implement this function. (You need only go into the level of detail as shown in the provided code -- you do not have to look up the functionalities of the underlying </a:t>
            </a:r>
            <a:r>
              <a:rPr lang="en" sz="2200" dirty="0" err="1"/>
              <a:t>PyTorch</a:t>
            </a:r>
            <a:r>
              <a:rPr lang="en" sz="2200" dirty="0"/>
              <a:t> sub-modules. Do describe in brief what purpose each is accomplishing.)</a:t>
            </a:r>
            <a:endParaRPr sz="2200" dirty="0"/>
          </a:p>
        </p:txBody>
      </p:sp>
      <p:sp>
        <p:nvSpPr>
          <p:cNvPr id="91" name="Google Shape;91;p17"/>
          <p:cNvSpPr txBox="1">
            <a:spLocks noGrp="1"/>
          </p:cNvSpPr>
          <p:nvPr>
            <p:ph type="body" idx="1"/>
          </p:nvPr>
        </p:nvSpPr>
        <p:spPr>
          <a:xfrm>
            <a:off x="311700" y="1656920"/>
            <a:ext cx="8520600" cy="291220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(1. Explain </a:t>
            </a:r>
            <a:r>
              <a:rPr lang="en-US" i="1" dirty="0"/>
              <a:t>forward</a:t>
            </a:r>
            <a:r>
              <a:rPr lang="en-US" dirty="0"/>
              <a:t> method.)</a:t>
            </a:r>
          </a:p>
          <a:p>
            <a:pPr marL="0" lvl="0" indent="0" algn="l" rtl="0">
              <a:spcBef>
                <a:spcPts val="0"/>
              </a:spcBef>
              <a:spcAft>
                <a:spcPts val="1200"/>
              </a:spcAft>
              <a:buNone/>
            </a:pPr>
            <a:r>
              <a:rPr lang="en-US" dirty="0"/>
              <a:t>(2. Copy and paste TODOs and explain each.)</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18"/>
          <p:cNvSpPr txBox="1">
            <a:spLocks noGrp="1"/>
          </p:cNvSpPr>
          <p:nvPr>
            <p:ph type="title"/>
          </p:nvPr>
        </p:nvSpPr>
        <p:spPr>
          <a:xfrm>
            <a:off x="311700" y="73767"/>
            <a:ext cx="8520600" cy="142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4. When training, </a:t>
            </a:r>
            <a:r>
              <a:rPr lang="en" sz="2200" dirty="0" err="1"/>
              <a:t>PyTorch</a:t>
            </a:r>
            <a:r>
              <a:rPr lang="en" sz="2200" dirty="0"/>
              <a:t> makes a “graph” of all the operations we perform so that it can automatically compute the derivatives of the different neural net weights with respect to the loss. Why do we need to </a:t>
            </a:r>
            <a:r>
              <a:rPr lang="en" sz="2200" dirty="0">
                <a:latin typeface="Courier New"/>
                <a:ea typeface="Courier New"/>
                <a:cs typeface="Courier New"/>
                <a:sym typeface="Courier New"/>
              </a:rPr>
              <a:t>detach_</a:t>
            </a:r>
            <a:r>
              <a:rPr lang="en" sz="2200" dirty="0"/>
              <a:t> this graph from our state variables between batches? Why not start over with a blank state?</a:t>
            </a:r>
            <a:endParaRPr sz="2200" dirty="0"/>
          </a:p>
        </p:txBody>
      </p:sp>
      <p:sp>
        <p:nvSpPr>
          <p:cNvPr id="97" name="Google Shape;97;p18"/>
          <p:cNvSpPr txBox="1">
            <a:spLocks noGrp="1"/>
          </p:cNvSpPr>
          <p:nvPr>
            <p:ph type="body" idx="1"/>
          </p:nvPr>
        </p:nvSpPr>
        <p:spPr>
          <a:xfrm>
            <a:off x="311700" y="1588168"/>
            <a:ext cx="8520600" cy="2980957"/>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title"/>
          </p:nvPr>
        </p:nvSpPr>
        <p:spPr>
          <a:xfrm>
            <a:off x="311700" y="108649"/>
            <a:ext cx="8520600" cy="144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5. Create a model using the </a:t>
            </a:r>
            <a:r>
              <a:rPr lang="en" sz="2200" dirty="0" err="1">
                <a:latin typeface="Courier New"/>
                <a:ea typeface="Courier New"/>
                <a:cs typeface="Courier New"/>
                <a:sym typeface="Courier New"/>
              </a:rPr>
              <a:t>create_model</a:t>
            </a:r>
            <a:r>
              <a:rPr lang="en" sz="2200" dirty="0"/>
              <a:t> function </a:t>
            </a:r>
            <a:r>
              <a:rPr lang="en" sz="2200" i="1" dirty="0"/>
              <a:t>without</a:t>
            </a:r>
            <a:r>
              <a:rPr lang="en" sz="2200" dirty="0"/>
              <a:t> training it with </a:t>
            </a:r>
            <a:r>
              <a:rPr lang="en" sz="2200" dirty="0" err="1">
                <a:latin typeface="Courier New"/>
                <a:ea typeface="Courier New"/>
                <a:cs typeface="Courier New"/>
                <a:sym typeface="Courier New"/>
              </a:rPr>
              <a:t>train_model</a:t>
            </a:r>
            <a:r>
              <a:rPr lang="en" sz="2200" dirty="0"/>
              <a:t>. Use this model to generate some text. Does this text appear structured? Does it at least seem Shakespearean? Include at least two samples of at least 20 tokens each and comment on the output.</a:t>
            </a:r>
            <a:endParaRPr sz="2200" dirty="0"/>
          </a:p>
        </p:txBody>
      </p:sp>
      <p:sp>
        <p:nvSpPr>
          <p:cNvPr id="109" name="Google Shape;109;p20"/>
          <p:cNvSpPr txBox="1">
            <a:spLocks noGrp="1"/>
          </p:cNvSpPr>
          <p:nvPr>
            <p:ph type="body" idx="1"/>
          </p:nvPr>
        </p:nvSpPr>
        <p:spPr>
          <a:xfrm>
            <a:off x="3117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1:</a:t>
            </a:r>
            <a:endParaRPr dirty="0"/>
          </a:p>
          <a:p>
            <a:pPr marL="0" lvl="0" indent="0" algn="l" rtl="0">
              <a:spcBef>
                <a:spcPts val="1200"/>
              </a:spcBef>
              <a:spcAft>
                <a:spcPts val="1200"/>
              </a:spcAft>
              <a:buNone/>
            </a:pPr>
            <a:r>
              <a:rPr lang="en" sz="1200" dirty="0"/>
              <a:t>(copy and paste the output text.)</a:t>
            </a:r>
            <a:endParaRPr sz="1200" dirty="0"/>
          </a:p>
        </p:txBody>
      </p:sp>
      <p:sp>
        <p:nvSpPr>
          <p:cNvPr id="110" name="Google Shape;110;p20"/>
          <p:cNvSpPr txBox="1">
            <a:spLocks noGrp="1"/>
          </p:cNvSpPr>
          <p:nvPr>
            <p:ph type="body" idx="1"/>
          </p:nvPr>
        </p:nvSpPr>
        <p:spPr>
          <a:xfrm>
            <a:off x="4572000" y="1944450"/>
            <a:ext cx="42603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Sample 2:</a:t>
            </a:r>
          </a:p>
          <a:p>
            <a:pPr marL="0" marR="0" lvl="0" indent="0" algn="l" defTabSz="914400" rtl="0" eaLnBrk="1" fontAlgn="auto" latinLnBrk="0" hangingPunct="1">
              <a:lnSpc>
                <a:spcPct val="115000"/>
              </a:lnSpc>
              <a:spcBef>
                <a:spcPts val="1200"/>
              </a:spcBef>
              <a:spcAft>
                <a:spcPts val="1200"/>
              </a:spcAft>
              <a:buClr>
                <a:srgbClr val="695D46"/>
              </a:buClr>
              <a:buSzPts val="1800"/>
              <a:buFont typeface="Open Sans"/>
              <a:buNone/>
              <a:tabLst/>
              <a:defRPr/>
            </a:pPr>
            <a:r>
              <a:rPr kumimoji="0" lang="en-US" sz="1200" b="0" i="0" u="none" strike="noStrike" kern="0" cap="none" spc="0" normalizeH="0" baseline="0" noProof="0" dirty="0">
                <a:ln>
                  <a:noFill/>
                </a:ln>
                <a:solidFill>
                  <a:srgbClr val="695D46"/>
                </a:solidFill>
                <a:effectLst/>
                <a:uLnTx/>
                <a:uFillTx/>
                <a:latin typeface="Open Sans"/>
                <a:ea typeface="Open Sans"/>
                <a:cs typeface="Open Sans"/>
                <a:sym typeface="Open Sans"/>
              </a:rPr>
              <a:t>(copy and paste the output text.)</a:t>
            </a:r>
          </a:p>
        </p:txBody>
      </p:sp>
      <p:sp>
        <p:nvSpPr>
          <p:cNvPr id="111" name="Google Shape;111;p20"/>
          <p:cNvSpPr txBox="1">
            <a:spLocks noGrp="1"/>
          </p:cNvSpPr>
          <p:nvPr>
            <p:ph type="body" idx="1"/>
          </p:nvPr>
        </p:nvSpPr>
        <p:spPr>
          <a:xfrm>
            <a:off x="311700" y="3462150"/>
            <a:ext cx="8520600" cy="1517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dirty="0"/>
              <a:t>Comments:</a:t>
            </a:r>
            <a:endParaRPr dirty="0"/>
          </a:p>
          <a:p>
            <a:pPr marL="0" lvl="0" indent="0" algn="l" rtl="0">
              <a:spcBef>
                <a:spcPts val="1200"/>
              </a:spcBef>
              <a:spcAft>
                <a:spcPts val="1200"/>
              </a:spcAft>
              <a:buNone/>
            </a:pPr>
            <a:endParaRPr sz="1200" dirty="0"/>
          </a:p>
        </p:txBody>
      </p:sp>
      <p:cxnSp>
        <p:nvCxnSpPr>
          <p:cNvPr id="112" name="Google Shape;112;p20"/>
          <p:cNvCxnSpPr/>
          <p:nvPr/>
        </p:nvCxnSpPr>
        <p:spPr>
          <a:xfrm rot="10800000">
            <a:off x="4572000" y="1945025"/>
            <a:ext cx="0" cy="151770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1"/>
          <p:cNvSpPr txBox="1">
            <a:spLocks noGrp="1"/>
          </p:cNvSpPr>
          <p:nvPr>
            <p:ph type="title"/>
          </p:nvPr>
        </p:nvSpPr>
        <p:spPr>
          <a:xfrm>
            <a:off x="311700" y="108142"/>
            <a:ext cx="8520600" cy="143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200" dirty="0"/>
              <a:t>6. Train a model using </a:t>
            </a:r>
            <a:r>
              <a:rPr lang="en" sz="2200" dirty="0" err="1">
                <a:latin typeface="Courier New"/>
                <a:ea typeface="Courier New"/>
                <a:cs typeface="Courier New"/>
                <a:sym typeface="Courier New"/>
              </a:rPr>
              <a:t>model_type</a:t>
            </a:r>
            <a:r>
              <a:rPr lang="en" sz="2200" dirty="0">
                <a:latin typeface="Courier New"/>
                <a:ea typeface="Courier New"/>
                <a:cs typeface="Courier New"/>
                <a:sym typeface="Courier New"/>
              </a:rPr>
              <a:t>=RNN,</a:t>
            </a:r>
            <a:r>
              <a:rPr lang="en-US" sz="2200" dirty="0">
                <a:latin typeface="Courier New"/>
                <a:ea typeface="Courier New"/>
                <a:cs typeface="Courier New"/>
                <a:sym typeface="Courier New"/>
              </a:rPr>
              <a:t>LSTM,GRU</a:t>
            </a:r>
            <a:r>
              <a:rPr lang="en" sz="2200" dirty="0"/>
              <a:t>. For each model, record one generated text of at least 10 tokens that you found interesting for understanding the model behavior. How does each model’s output compare to each other? What happens if you set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=False</a:t>
            </a:r>
            <a:r>
              <a:rPr lang="en" sz="2200" dirty="0"/>
              <a:t> and </a:t>
            </a:r>
            <a:r>
              <a:rPr lang="en" sz="2200" dirty="0" err="1">
                <a:latin typeface="Courier New"/>
                <a:ea typeface="Courier New"/>
                <a:cs typeface="Courier New"/>
                <a:sym typeface="Courier New"/>
              </a:rPr>
              <a:t>by_prob</a:t>
            </a:r>
            <a:r>
              <a:rPr lang="en" sz="2200" dirty="0">
                <a:latin typeface="Courier New"/>
                <a:ea typeface="Courier New"/>
                <a:cs typeface="Courier New"/>
                <a:sym typeface="Courier New"/>
              </a:rPr>
              <a:t>=True?</a:t>
            </a:r>
            <a:endParaRPr sz="2200" dirty="0"/>
          </a:p>
        </p:txBody>
      </p:sp>
      <p:graphicFrame>
        <p:nvGraphicFramePr>
          <p:cNvPr id="10" name="Table 9">
            <a:extLst>
              <a:ext uri="{FF2B5EF4-FFF2-40B4-BE49-F238E27FC236}">
                <a16:creationId xmlns:a16="http://schemas.microsoft.com/office/drawing/2014/main" id="{6C270F30-D541-0298-B19D-99DACEE051D2}"/>
              </a:ext>
            </a:extLst>
          </p:cNvPr>
          <p:cNvGraphicFramePr>
            <a:graphicFrameLocks noGrp="1"/>
          </p:cNvGraphicFramePr>
          <p:nvPr>
            <p:extLst>
              <p:ext uri="{D42A27DB-BD31-4B8C-83A1-F6EECF244321}">
                <p14:modId xmlns:p14="http://schemas.microsoft.com/office/powerpoint/2010/main" val="3277130236"/>
              </p:ext>
            </p:extLst>
          </p:nvPr>
        </p:nvGraphicFramePr>
        <p:xfrm>
          <a:off x="311699" y="1711922"/>
          <a:ext cx="8571044" cy="3251965"/>
        </p:xfrm>
        <a:graphic>
          <a:graphicData uri="http://schemas.openxmlformats.org/drawingml/2006/table">
            <a:tbl>
              <a:tblPr firstRow="1" bandRow="1">
                <a:tableStyleId>{BC89EF96-8CEA-46FF-86C4-4CE0E7609802}</a:tableStyleId>
              </a:tblPr>
              <a:tblGrid>
                <a:gridCol w="747080">
                  <a:extLst>
                    <a:ext uri="{9D8B030D-6E8A-4147-A177-3AD203B41FA5}">
                      <a16:colId xmlns:a16="http://schemas.microsoft.com/office/drawing/2014/main" val="84716003"/>
                    </a:ext>
                  </a:extLst>
                </a:gridCol>
                <a:gridCol w="2607988">
                  <a:extLst>
                    <a:ext uri="{9D8B030D-6E8A-4147-A177-3AD203B41FA5}">
                      <a16:colId xmlns:a16="http://schemas.microsoft.com/office/drawing/2014/main" val="3154533188"/>
                    </a:ext>
                  </a:extLst>
                </a:gridCol>
                <a:gridCol w="2607988">
                  <a:extLst>
                    <a:ext uri="{9D8B030D-6E8A-4147-A177-3AD203B41FA5}">
                      <a16:colId xmlns:a16="http://schemas.microsoft.com/office/drawing/2014/main" val="1777085866"/>
                    </a:ext>
                  </a:extLst>
                </a:gridCol>
                <a:gridCol w="2607988">
                  <a:extLst>
                    <a:ext uri="{9D8B030D-6E8A-4147-A177-3AD203B41FA5}">
                      <a16:colId xmlns:a16="http://schemas.microsoft.com/office/drawing/2014/main" val="1295037858"/>
                    </a:ext>
                  </a:extLst>
                </a:gridCol>
              </a:tblGrid>
              <a:tr h="337444">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RNN</a:t>
                      </a:r>
                      <a:endParaRPr lang="en-US" sz="140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LSTM</a:t>
                      </a:r>
                      <a:endParaRPr lang="en-US" b="0" dirty="0"/>
                    </a:p>
                  </a:txBody>
                  <a:tcPr anchor="ctr"/>
                </a:tc>
                <a:tc>
                  <a:txBody>
                    <a:bodyPr/>
                    <a:lstStyle/>
                    <a:p>
                      <a:pPr algn="ct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GRU</a:t>
                      </a:r>
                      <a:endParaRPr lang="en-US" b="0" dirty="0"/>
                    </a:p>
                  </a:txBody>
                  <a:tcPr anchor="ctr"/>
                </a:tc>
                <a:extLst>
                  <a:ext uri="{0D108BD9-81ED-4DB2-BD59-A6C34878D82A}">
                    <a16:rowId xmlns:a16="http://schemas.microsoft.com/office/drawing/2014/main" val="2075907566"/>
                  </a:ext>
                </a:extLst>
              </a:tr>
              <a:tr h="78290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False</a:t>
                      </a:r>
                      <a:endParaRPr lang="en-US" sz="1400" dirty="0"/>
                    </a:p>
                  </a:txBody>
                  <a:tcPr anchor="ct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78290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True</a:t>
                      </a:r>
                      <a:endParaRPr lang="en-US" sz="1400" dirty="0"/>
                    </a:p>
                  </a:txBody>
                  <a:tcPr anchor="ctr"/>
                </a:tc>
                <a:tc>
                  <a:txBody>
                    <a:bodyPr/>
                    <a:lstStyle/>
                    <a:p>
                      <a:endParaRPr lang="en-US" dirty="0"/>
                    </a:p>
                  </a:txBody>
                  <a:tcP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176353543"/>
                  </a:ext>
                </a:extLst>
              </a:tr>
              <a:tr h="1348711">
                <a:tc gridSpan="4">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Comments:</a:t>
                      </a:r>
                      <a:endParaRPr lang="en-US" sz="14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dirty="0"/>
              <a:t>ECE 157B/272B </a:t>
            </a:r>
            <a:br>
              <a:rPr lang="en" dirty="0"/>
            </a:br>
            <a:r>
              <a:rPr lang="en" dirty="0"/>
              <a:t>Homework 1 Part B</a:t>
            </a:r>
            <a:endParaRPr dirty="0"/>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&lt;</a:t>
            </a:r>
            <a:r>
              <a:rPr lang="en" dirty="0" err="1"/>
              <a:t>Student_Name</a:t>
            </a:r>
            <a:r>
              <a:rPr lang="en" dirty="0"/>
              <a:t>&gt;</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94389"/>
            <a:ext cx="8520600" cy="12901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1. Make up 3 sentences. Use the </a:t>
            </a:r>
            <a:r>
              <a:rPr lang="en" sz="1900" dirty="0" err="1">
                <a:latin typeface="Courier New"/>
                <a:ea typeface="Courier New"/>
                <a:cs typeface="Courier New"/>
                <a:sym typeface="Courier New"/>
              </a:rPr>
              <a:t>tokenizer_toy</a:t>
            </a:r>
            <a:r>
              <a:rPr lang="en" sz="1900" dirty="0"/>
              <a:t> (as provided in the notebook) to encode and inspect the sentences with a tokenizer trained on </a:t>
            </a:r>
            <a:r>
              <a:rPr lang="en" sz="1900" dirty="0" err="1"/>
              <a:t>shakespeare_train</a:t>
            </a:r>
            <a:r>
              <a:rPr lang="en" sz="1900" dirty="0"/>
              <a:t> and one trained on </a:t>
            </a:r>
            <a:r>
              <a:rPr lang="en" sz="1900" dirty="0" err="1"/>
              <a:t>daily_dialog_train</a:t>
            </a:r>
            <a:r>
              <a:rPr lang="en" sz="1900" dirty="0"/>
              <a:t>. Comment on which tokenizer handles each of your sentences “better”. Specify what your definition of “better” is.</a:t>
            </a:r>
            <a:endParaRPr sz="1900" dirty="0">
              <a:latin typeface="Courier New"/>
              <a:ea typeface="Courier New"/>
              <a:cs typeface="Courier New"/>
              <a:sym typeface="Courier New"/>
            </a:endParaRPr>
          </a:p>
        </p:txBody>
      </p:sp>
      <p:sp>
        <p:nvSpPr>
          <p:cNvPr id="5" name="Google Shape;89;p16">
            <a:extLst>
              <a:ext uri="{FF2B5EF4-FFF2-40B4-BE49-F238E27FC236}">
                <a16:creationId xmlns:a16="http://schemas.microsoft.com/office/drawing/2014/main" id="{25442DC5-923E-6853-6ADE-209ED6700E75}"/>
              </a:ext>
            </a:extLst>
          </p:cNvPr>
          <p:cNvSpPr txBox="1">
            <a:spLocks noGrp="1"/>
          </p:cNvSpPr>
          <p:nvPr>
            <p:ph type="body" idx="1"/>
          </p:nvPr>
        </p:nvSpPr>
        <p:spPr>
          <a:xfrm>
            <a:off x="311700" y="1384513"/>
            <a:ext cx="8520600" cy="3531245"/>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9" name="Google Shape;79;p15"/>
          <p:cNvSpPr txBox="1">
            <a:spLocks noGrp="1"/>
          </p:cNvSpPr>
          <p:nvPr>
            <p:ph type="title"/>
          </p:nvPr>
        </p:nvSpPr>
        <p:spPr>
          <a:xfrm>
            <a:off x="311700" y="80639"/>
            <a:ext cx="8520600" cy="73750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Train a vocabulary on each of {</a:t>
            </a:r>
            <a:r>
              <a:rPr lang="en" sz="1900" dirty="0" err="1"/>
              <a:t>shakespeare_train</a:t>
            </a:r>
            <a:r>
              <a:rPr lang="en" sz="1900" dirty="0"/>
              <a:t> only, </a:t>
            </a:r>
            <a:r>
              <a:rPr lang="en" sz="1900" dirty="0" err="1"/>
              <a:t>daily_dialog_train</a:t>
            </a:r>
            <a:r>
              <a:rPr lang="en" sz="1900" dirty="0"/>
              <a:t> only, and both}. Why are the peak count of token lengths different between the the three vocabularies? </a:t>
            </a:r>
            <a:endParaRPr sz="1900" dirty="0"/>
          </a:p>
        </p:txBody>
      </p:sp>
      <p:sp>
        <p:nvSpPr>
          <p:cNvPr id="2" name="Google Shape;89;p16">
            <a:extLst>
              <a:ext uri="{FF2B5EF4-FFF2-40B4-BE49-F238E27FC236}">
                <a16:creationId xmlns:a16="http://schemas.microsoft.com/office/drawing/2014/main" id="{23E326D1-984E-1F91-1D13-75AAD714DFB0}"/>
              </a:ext>
            </a:extLst>
          </p:cNvPr>
          <p:cNvSpPr txBox="1">
            <a:spLocks noGrp="1"/>
          </p:cNvSpPr>
          <p:nvPr>
            <p:ph type="body" idx="1"/>
          </p:nvPr>
        </p:nvSpPr>
        <p:spPr>
          <a:xfrm>
            <a:off x="311700" y="818147"/>
            <a:ext cx="8520600" cy="4097611"/>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7"/>
          <p:cNvSpPr txBox="1">
            <a:spLocks noGrp="1"/>
          </p:cNvSpPr>
          <p:nvPr>
            <p:ph type="title"/>
          </p:nvPr>
        </p:nvSpPr>
        <p:spPr>
          <a:xfrm>
            <a:off x="311700" y="87516"/>
            <a:ext cx="8520600" cy="1021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3. Use the provided notebook code to tokenize each dataset with each vocabulary. Include the dataset size (after tokenization) for each dataset and vocabulary pair in your report. Which </a:t>
            </a:r>
            <a:r>
              <a:rPr lang="en" sz="1900" dirty="0" err="1"/>
              <a:t>dataset+vocabulary</a:t>
            </a:r>
            <a:r>
              <a:rPr lang="en" sz="1900" dirty="0"/>
              <a:t> pairing has the largest dataset size? Why? Which has the smallest? Why?</a:t>
            </a:r>
            <a:endParaRPr sz="1900" dirty="0"/>
          </a:p>
        </p:txBody>
      </p:sp>
      <p:sp>
        <p:nvSpPr>
          <p:cNvPr id="95" name="Google Shape;95;p17"/>
          <p:cNvSpPr txBox="1">
            <a:spLocks noGrp="1"/>
          </p:cNvSpPr>
          <p:nvPr>
            <p:ph type="body" idx="1"/>
          </p:nvPr>
        </p:nvSpPr>
        <p:spPr>
          <a:xfrm>
            <a:off x="311700" y="2571750"/>
            <a:ext cx="8520600" cy="233075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dirty="0"/>
          </a:p>
        </p:txBody>
      </p:sp>
      <p:graphicFrame>
        <p:nvGraphicFramePr>
          <p:cNvPr id="96" name="Google Shape;96;p17"/>
          <p:cNvGraphicFramePr/>
          <p:nvPr>
            <p:extLst>
              <p:ext uri="{D42A27DB-BD31-4B8C-83A1-F6EECF244321}">
                <p14:modId xmlns:p14="http://schemas.microsoft.com/office/powerpoint/2010/main" val="3233382647"/>
              </p:ext>
            </p:extLst>
          </p:nvPr>
        </p:nvGraphicFramePr>
        <p:xfrm>
          <a:off x="865650" y="1291541"/>
          <a:ext cx="7412700" cy="1188630"/>
        </p:xfrm>
        <a:graphic>
          <a:graphicData uri="http://schemas.openxmlformats.org/drawingml/2006/table">
            <a:tbl>
              <a:tblPr>
                <a:tableStyleId>{BC89EF96-8CEA-46FF-86C4-4CE0E7609802}</a:tableStyleId>
              </a:tblPr>
              <a:tblGrid>
                <a:gridCol w="1853175">
                  <a:extLst>
                    <a:ext uri="{9D8B030D-6E8A-4147-A177-3AD203B41FA5}">
                      <a16:colId xmlns:a16="http://schemas.microsoft.com/office/drawing/2014/main" val="20000"/>
                    </a:ext>
                  </a:extLst>
                </a:gridCol>
                <a:gridCol w="1853175">
                  <a:extLst>
                    <a:ext uri="{9D8B030D-6E8A-4147-A177-3AD203B41FA5}">
                      <a16:colId xmlns:a16="http://schemas.microsoft.com/office/drawing/2014/main" val="20001"/>
                    </a:ext>
                  </a:extLst>
                </a:gridCol>
                <a:gridCol w="1853175">
                  <a:extLst>
                    <a:ext uri="{9D8B030D-6E8A-4147-A177-3AD203B41FA5}">
                      <a16:colId xmlns:a16="http://schemas.microsoft.com/office/drawing/2014/main" val="20002"/>
                    </a:ext>
                  </a:extLst>
                </a:gridCol>
                <a:gridCol w="1853175">
                  <a:extLst>
                    <a:ext uri="{9D8B030D-6E8A-4147-A177-3AD203B41FA5}">
                      <a16:colId xmlns:a16="http://schemas.microsoft.com/office/drawing/2014/main" val="20003"/>
                    </a:ext>
                  </a:extLst>
                </a:gridCol>
              </a:tblGrid>
              <a:tr h="381000">
                <a:tc>
                  <a:txBody>
                    <a:bodyPr/>
                    <a:lstStyle/>
                    <a:p>
                      <a:pPr marL="0" lvl="0" indent="0" algn="r" rtl="0">
                        <a:spcBef>
                          <a:spcPts val="0"/>
                        </a:spcBef>
                        <a:spcAft>
                          <a:spcPts val="0"/>
                        </a:spcAft>
                        <a:buNone/>
                      </a:pPr>
                      <a:r>
                        <a:rPr lang="en" dirty="0">
                          <a:solidFill>
                            <a:srgbClr val="000000"/>
                          </a:solidFill>
                        </a:rPr>
                        <a:t>Data \ Vocab</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Shakespeare</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a:solidFill>
                            <a:srgbClr val="000000"/>
                          </a:solidFill>
                        </a:rPr>
                        <a:t>daily_dialog</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both</a:t>
                      </a:r>
                      <a:endParaRPr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n" dirty="0" err="1">
                          <a:solidFill>
                            <a:srgbClr val="000000"/>
                          </a:solidFill>
                        </a:rPr>
                        <a:t>shakespeare_train</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a:solidFill>
                            <a:srgbClr val="000000"/>
                          </a:solidFill>
                        </a:rPr>
                        <a:t>daily_dialog_train</a:t>
                      </a:r>
                      <a:endParaRPr>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tc>
                  <a:txBody>
                    <a:bodyPr/>
                    <a:lstStyle/>
                    <a:p>
                      <a:pPr marL="0" lvl="0" indent="0" algn="l" rtl="0">
                        <a:spcBef>
                          <a:spcPts val="0"/>
                        </a:spcBef>
                        <a:spcAft>
                          <a:spcPts val="0"/>
                        </a:spcAft>
                        <a:buNone/>
                      </a:pPr>
                      <a:r>
                        <a:rPr lang="en" dirty="0">
                          <a:solidFill>
                            <a:srgbClr val="000000"/>
                          </a:solidFill>
                        </a:rPr>
                        <a:t>_______ tokens</a:t>
                      </a:r>
                      <a:endParaRPr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9"/>
          <p:cNvSpPr txBox="1">
            <a:spLocks noGrp="1"/>
          </p:cNvSpPr>
          <p:nvPr>
            <p:ph type="title"/>
          </p:nvPr>
        </p:nvSpPr>
        <p:spPr>
          <a:xfrm>
            <a:off x="311700" y="56585"/>
            <a:ext cx="8520600" cy="1799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4. Complete the </a:t>
            </a:r>
            <a:r>
              <a:rPr lang="en" sz="1900" dirty="0">
                <a:latin typeface="Courier New"/>
                <a:ea typeface="Courier New"/>
                <a:cs typeface="Courier New"/>
                <a:sym typeface="Courier New"/>
              </a:rPr>
              <a:t>forward</a:t>
            </a:r>
            <a:r>
              <a:rPr lang="en" sz="1900" dirty="0"/>
              <a:t> function in </a:t>
            </a:r>
            <a:r>
              <a:rPr lang="en" sz="1900" dirty="0" err="1">
                <a:latin typeface="Courier New"/>
                <a:ea typeface="Courier New"/>
                <a:cs typeface="Courier New"/>
                <a:sym typeface="Courier New"/>
              </a:rPr>
              <a:t>RecurrentModel</a:t>
            </a:r>
            <a:r>
              <a:rPr lang="en" sz="1900" dirty="0"/>
              <a:t>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a:t>
            </a:r>
            <a:endParaRPr sz="1900" dirty="0"/>
          </a:p>
        </p:txBody>
      </p:sp>
      <p:sp>
        <p:nvSpPr>
          <p:cNvPr id="108" name="Google Shape;108;p19"/>
          <p:cNvSpPr txBox="1">
            <a:spLocks noGrp="1"/>
          </p:cNvSpPr>
          <p:nvPr>
            <p:ph type="body" idx="1"/>
          </p:nvPr>
        </p:nvSpPr>
        <p:spPr>
          <a:xfrm>
            <a:off x="311700" y="1856284"/>
            <a:ext cx="1798983" cy="3086975"/>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lvl="0" indent="0" algn="l" rtl="0">
              <a:spcBef>
                <a:spcPts val="0"/>
              </a:spcBef>
              <a:spcAft>
                <a:spcPts val="1200"/>
              </a:spcAft>
              <a:buNone/>
            </a:pPr>
            <a:r>
              <a:rPr lang="en" sz="1050" dirty="0"/>
              <a:t>(Include optimizer, model type, and parameters)</a:t>
            </a:r>
            <a:endParaRPr sz="1050" dirty="0"/>
          </a:p>
        </p:txBody>
      </p:sp>
      <p:sp>
        <p:nvSpPr>
          <p:cNvPr id="109" name="Google Shape;109;p19"/>
          <p:cNvSpPr txBox="1">
            <a:spLocks noGrp="1"/>
          </p:cNvSpPr>
          <p:nvPr>
            <p:ph type="body" idx="1"/>
          </p:nvPr>
        </p:nvSpPr>
        <p:spPr>
          <a:xfrm>
            <a:off x="2147214" y="3074365"/>
            <a:ext cx="6685085" cy="1868893"/>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graphicFrame>
        <p:nvGraphicFramePr>
          <p:cNvPr id="110" name="Google Shape;110;p19"/>
          <p:cNvGraphicFramePr/>
          <p:nvPr>
            <p:extLst>
              <p:ext uri="{D42A27DB-BD31-4B8C-83A1-F6EECF244321}">
                <p14:modId xmlns:p14="http://schemas.microsoft.com/office/powerpoint/2010/main" val="3024540939"/>
              </p:ext>
            </p:extLst>
          </p:nvPr>
        </p:nvGraphicFramePr>
        <p:xfrm>
          <a:off x="2147215" y="1856284"/>
          <a:ext cx="6685085" cy="1143000"/>
        </p:xfrm>
        <a:graphic>
          <a:graphicData uri="http://schemas.openxmlformats.org/drawingml/2006/table">
            <a:tbl>
              <a:tblPr>
                <a:noFill/>
              </a:tblPr>
              <a:tblGrid>
                <a:gridCol w="1077248">
                  <a:extLst>
                    <a:ext uri="{9D8B030D-6E8A-4147-A177-3AD203B41FA5}">
                      <a16:colId xmlns:a16="http://schemas.microsoft.com/office/drawing/2014/main" val="20000"/>
                    </a:ext>
                  </a:extLst>
                </a:gridCol>
                <a:gridCol w="1596786">
                  <a:extLst>
                    <a:ext uri="{9D8B030D-6E8A-4147-A177-3AD203B41FA5}">
                      <a16:colId xmlns:a16="http://schemas.microsoft.com/office/drawing/2014/main" val="20001"/>
                    </a:ext>
                  </a:extLst>
                </a:gridCol>
                <a:gridCol w="1337017">
                  <a:extLst>
                    <a:ext uri="{9D8B030D-6E8A-4147-A177-3AD203B41FA5}">
                      <a16:colId xmlns:a16="http://schemas.microsoft.com/office/drawing/2014/main" val="20002"/>
                    </a:ext>
                  </a:extLst>
                </a:gridCol>
                <a:gridCol w="1337017">
                  <a:extLst>
                    <a:ext uri="{9D8B030D-6E8A-4147-A177-3AD203B41FA5}">
                      <a16:colId xmlns:a16="http://schemas.microsoft.com/office/drawing/2014/main" val="20003"/>
                    </a:ext>
                  </a:extLst>
                </a:gridCol>
                <a:gridCol w="1337017">
                  <a:extLst>
                    <a:ext uri="{9D8B030D-6E8A-4147-A177-3AD203B41FA5}">
                      <a16:colId xmlns:a16="http://schemas.microsoft.com/office/drawing/2014/main" val="20004"/>
                    </a:ext>
                  </a:extLst>
                </a:gridCol>
              </a:tblGrid>
              <a:tr h="381000">
                <a:tc>
                  <a:txBody>
                    <a:bodyPr/>
                    <a:lstStyle/>
                    <a:p>
                      <a:pPr marL="0" lvl="0" indent="0" algn="ctr" rtl="0">
                        <a:spcBef>
                          <a:spcPts val="0"/>
                        </a:spcBef>
                        <a:spcAft>
                          <a:spcPts val="0"/>
                        </a:spcAft>
                        <a:buNone/>
                      </a:pPr>
                      <a:r>
                        <a:rPr lang="en" sz="1200" dirty="0">
                          <a:solidFill>
                            <a:srgbClr val="000000"/>
                          </a:solidFill>
                        </a:rPr>
                        <a:t>Model \ Dat</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a:solidFill>
                            <a:srgbClr val="000000"/>
                          </a:solidFill>
                        </a:rPr>
                        <a:t>Shakespeare </a:t>
                      </a:r>
                      <a:r>
                        <a:rPr lang="en" sz="1200" dirty="0" err="1">
                          <a:solidFill>
                            <a:srgbClr val="000000"/>
                          </a:solidFill>
                        </a:rPr>
                        <a:t>val</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train</a:t>
                      </a:r>
                      <a:endParaRPr sz="1200" dirty="0">
                        <a:solidFill>
                          <a:srgbClr val="000000"/>
                        </a:solidFill>
                      </a:endParaRPr>
                    </a:p>
                  </a:txBody>
                  <a:tcPr marL="91425" marR="91425" marT="91425" marB="91425"/>
                </a:tc>
                <a:tc>
                  <a:txBody>
                    <a:bodyPr/>
                    <a:lstStyle/>
                    <a:p>
                      <a:pPr marL="0" lvl="0" indent="0" algn="ctr" rtl="0">
                        <a:spcBef>
                          <a:spcPts val="0"/>
                        </a:spcBef>
                        <a:spcAft>
                          <a:spcPts val="0"/>
                        </a:spcAft>
                        <a:buNone/>
                      </a:pPr>
                      <a:r>
                        <a:rPr lang="en" sz="1200" dirty="0" err="1">
                          <a:solidFill>
                            <a:srgbClr val="000000"/>
                          </a:solidFill>
                        </a:rPr>
                        <a:t>daily_dialog</a:t>
                      </a:r>
                      <a:r>
                        <a:rPr lang="en" sz="1200" dirty="0">
                          <a:solidFill>
                            <a:srgbClr val="000000"/>
                          </a:solidFill>
                        </a:rPr>
                        <a:t> </a:t>
                      </a:r>
                      <a:r>
                        <a:rPr lang="en" sz="1200" dirty="0" err="1">
                          <a:solidFill>
                            <a:srgbClr val="000000"/>
                          </a:solidFill>
                        </a:rPr>
                        <a:t>val</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1200" dirty="0">
                          <a:solidFill>
                            <a:srgbClr val="000000"/>
                          </a:solidFill>
                        </a:rPr>
                        <a:t>Shakespeare</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a:solidFill>
                          <a:srgbClr val="000000"/>
                        </a:solidFill>
                      </a:endParaRPr>
                    </a:p>
                  </a:txBody>
                  <a:tcPr marL="91425" marR="91425" marT="91425" marB="91425"/>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n" sz="1200" dirty="0" err="1">
                          <a:solidFill>
                            <a:srgbClr val="000000"/>
                          </a:solidFill>
                        </a:rPr>
                        <a:t>daily_dialog</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endParaRPr sz="1200" dirty="0">
                        <a:solidFill>
                          <a:srgbClr val="000000"/>
                        </a:solidFill>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0"/>
          <p:cNvSpPr txBox="1">
            <a:spLocks noGrp="1"/>
          </p:cNvSpPr>
          <p:nvPr>
            <p:ph type="title"/>
          </p:nvPr>
        </p:nvSpPr>
        <p:spPr>
          <a:xfrm>
            <a:off x="311700" y="101266"/>
            <a:ext cx="8520600" cy="183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t>5. Complete the accuracy calculation code in </a:t>
            </a:r>
            <a:r>
              <a:rPr lang="en" sz="1800" dirty="0" err="1">
                <a:latin typeface="Courier New"/>
                <a:ea typeface="Courier New"/>
                <a:cs typeface="Courier New"/>
                <a:sym typeface="Courier New"/>
              </a:rPr>
              <a:t>train_epoch_classifier</a:t>
            </a:r>
            <a:r>
              <a:rPr lang="en" sz="1800" dirty="0"/>
              <a:t> and </a:t>
            </a:r>
            <a:r>
              <a:rPr lang="en" sz="1800" dirty="0" err="1">
                <a:latin typeface="Courier New"/>
                <a:ea typeface="Courier New"/>
                <a:cs typeface="Courier New"/>
                <a:sym typeface="Courier New"/>
              </a:rPr>
              <a:t>evaluate_classifier</a:t>
            </a:r>
            <a:r>
              <a:rPr lang="en" sz="1800" dirty="0"/>
              <a:t>. Note your choice of optimizer, model type, and parameters in your report. Then train two language models, one pre-trained with the text generation task, and one randomly initialized, on the </a:t>
            </a:r>
            <a:r>
              <a:rPr lang="en" sz="1800" dirty="0" err="1">
                <a:latin typeface="Courier New"/>
                <a:ea typeface="Courier New"/>
                <a:cs typeface="Courier New"/>
                <a:sym typeface="Courier New"/>
              </a:rPr>
              <a:t>daily_dialog</a:t>
            </a:r>
            <a:r>
              <a:rPr lang="en" sz="1800" dirty="0"/>
              <a:t> emotion classification task. Test the accuracy of each model on the validation set and place the results in your report slides. Explain why the accuracies are different between the two models on the same dataset.</a:t>
            </a:r>
            <a:endParaRPr sz="1800" dirty="0"/>
          </a:p>
        </p:txBody>
      </p:sp>
      <p:sp>
        <p:nvSpPr>
          <p:cNvPr id="116" name="Google Shape;116;p20"/>
          <p:cNvSpPr txBox="1">
            <a:spLocks noGrp="1"/>
          </p:cNvSpPr>
          <p:nvPr>
            <p:ph type="body" idx="1"/>
          </p:nvPr>
        </p:nvSpPr>
        <p:spPr>
          <a:xfrm>
            <a:off x="311700" y="1849426"/>
            <a:ext cx="2490600" cy="2426941"/>
          </a:xfrm>
          <a:prstGeom prst="rect">
            <a:avLst/>
          </a:prstGeom>
          <a:ln w="9525" cap="flat" cmpd="sng">
            <a:solidFill>
              <a:srgbClr val="000000"/>
            </a:solidFill>
            <a:prstDash val="solid"/>
            <a:round/>
            <a:headEnd type="none" w="sm" len="sm"/>
            <a:tailEnd type="none" w="sm" len="sm"/>
          </a:ln>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Parameters:</a:t>
            </a:r>
          </a:p>
          <a:p>
            <a:pPr marL="0" marR="0" lvl="0" indent="0" algn="l" defTabSz="914400" rtl="0" eaLnBrk="1" fontAlgn="auto" latinLnBrk="0" hangingPunct="1">
              <a:lnSpc>
                <a:spcPct val="115000"/>
              </a:lnSpc>
              <a:spcBef>
                <a:spcPts val="0"/>
              </a:spcBef>
              <a:spcAft>
                <a:spcPts val="1200"/>
              </a:spcAft>
              <a:buClr>
                <a:srgbClr val="695D46"/>
              </a:buClr>
              <a:buSzPts val="1800"/>
              <a:buFont typeface="Open Sans"/>
              <a:buNone/>
              <a:tabLst/>
              <a:defRPr/>
            </a:pPr>
            <a:r>
              <a:rPr kumimoji="0" lang="en-US" sz="1050" b="0" i="0" u="none" strike="noStrike" kern="0" cap="none" spc="0" normalizeH="0" baseline="0" noProof="0" dirty="0">
                <a:ln>
                  <a:noFill/>
                </a:ln>
                <a:solidFill>
                  <a:srgbClr val="695D46"/>
                </a:solidFill>
                <a:effectLst/>
                <a:uLnTx/>
                <a:uFillTx/>
                <a:latin typeface="Open Sans"/>
                <a:ea typeface="Open Sans"/>
                <a:cs typeface="Open Sans"/>
                <a:sym typeface="Open Sans"/>
              </a:rPr>
              <a:t>(Include optimizer, model type, and parameters)</a:t>
            </a:r>
          </a:p>
          <a:p>
            <a:pPr marL="0" lvl="0" indent="0" algn="l" rtl="0">
              <a:spcBef>
                <a:spcPts val="0"/>
              </a:spcBef>
              <a:spcAft>
                <a:spcPts val="1200"/>
              </a:spcAft>
              <a:buNone/>
            </a:pPr>
            <a:endParaRPr sz="1400" dirty="0"/>
          </a:p>
        </p:txBody>
      </p:sp>
      <p:graphicFrame>
        <p:nvGraphicFramePr>
          <p:cNvPr id="117" name="Google Shape;117;p20"/>
          <p:cNvGraphicFramePr/>
          <p:nvPr>
            <p:extLst>
              <p:ext uri="{D42A27DB-BD31-4B8C-83A1-F6EECF244321}">
                <p14:modId xmlns:p14="http://schemas.microsoft.com/office/powerpoint/2010/main" val="1205816090"/>
              </p:ext>
            </p:extLst>
          </p:nvPr>
        </p:nvGraphicFramePr>
        <p:xfrm>
          <a:off x="2864177" y="1849426"/>
          <a:ext cx="4636653" cy="731460"/>
        </p:xfrm>
        <a:graphic>
          <a:graphicData uri="http://schemas.openxmlformats.org/drawingml/2006/table">
            <a:tbl>
              <a:tblPr>
                <a:noFill/>
              </a:tblPr>
              <a:tblGrid>
                <a:gridCol w="1106329">
                  <a:extLst>
                    <a:ext uri="{9D8B030D-6E8A-4147-A177-3AD203B41FA5}">
                      <a16:colId xmlns:a16="http://schemas.microsoft.com/office/drawing/2014/main" val="20000"/>
                    </a:ext>
                  </a:extLst>
                </a:gridCol>
                <a:gridCol w="1710971">
                  <a:extLst>
                    <a:ext uri="{9D8B030D-6E8A-4147-A177-3AD203B41FA5}">
                      <a16:colId xmlns:a16="http://schemas.microsoft.com/office/drawing/2014/main" val="20001"/>
                    </a:ext>
                  </a:extLst>
                </a:gridCol>
                <a:gridCol w="1819353">
                  <a:extLst>
                    <a:ext uri="{9D8B030D-6E8A-4147-A177-3AD203B41FA5}">
                      <a16:colId xmlns:a16="http://schemas.microsoft.com/office/drawing/2014/main" val="20002"/>
                    </a:ext>
                  </a:extLst>
                </a:gridCol>
              </a:tblGrid>
              <a:tr h="300293">
                <a:tc>
                  <a:txBody>
                    <a:bodyPr/>
                    <a:lstStyle/>
                    <a:p>
                      <a:pPr marL="0" lvl="0" indent="0" algn="l" rtl="0">
                        <a:spcBef>
                          <a:spcPts val="0"/>
                        </a:spcBef>
                        <a:spcAft>
                          <a:spcPts val="0"/>
                        </a:spcAft>
                        <a:buNone/>
                      </a:pPr>
                      <a:r>
                        <a:rPr lang="en" sz="1200" dirty="0">
                          <a:solidFill>
                            <a:srgbClr val="000000"/>
                          </a:solidFill>
                        </a:rPr>
                        <a:t>Model</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Text Gen Pre-Trained</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Random Init</a:t>
                      </a:r>
                      <a:endParaRPr sz="1200" dirty="0">
                        <a:solidFill>
                          <a:srgbClr val="000000"/>
                        </a:solidFill>
                      </a:endParaRPr>
                    </a:p>
                  </a:txBody>
                  <a:tcPr marL="91425" marR="91425" marT="91425" marB="91425"/>
                </a:tc>
                <a:extLst>
                  <a:ext uri="{0D108BD9-81ED-4DB2-BD59-A6C34878D82A}">
                    <a16:rowId xmlns:a16="http://schemas.microsoft.com/office/drawing/2014/main" val="10000"/>
                  </a:ext>
                </a:extLst>
              </a:tr>
              <a:tr h="300293">
                <a:tc>
                  <a:txBody>
                    <a:bodyPr/>
                    <a:lstStyle/>
                    <a:p>
                      <a:pPr marL="0" lvl="0" indent="0" algn="l" rtl="0">
                        <a:spcBef>
                          <a:spcPts val="0"/>
                        </a:spcBef>
                        <a:spcAft>
                          <a:spcPts val="0"/>
                        </a:spcAft>
                        <a:buNone/>
                      </a:pPr>
                      <a:r>
                        <a:rPr lang="en" sz="1200" dirty="0">
                          <a:solidFill>
                            <a:srgbClr val="000000"/>
                          </a:solidFill>
                        </a:rPr>
                        <a:t>Val Accuracy</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tc>
                  <a:txBody>
                    <a:bodyPr/>
                    <a:lstStyle/>
                    <a:p>
                      <a:pPr marL="0" lvl="0" indent="0" algn="l" rtl="0">
                        <a:spcBef>
                          <a:spcPts val="0"/>
                        </a:spcBef>
                        <a:spcAft>
                          <a:spcPts val="0"/>
                        </a:spcAft>
                        <a:buNone/>
                      </a:pPr>
                      <a:r>
                        <a:rPr lang="en" sz="1200" dirty="0">
                          <a:solidFill>
                            <a:srgbClr val="000000"/>
                          </a:solidFill>
                        </a:rPr>
                        <a:t>______ %</a:t>
                      </a:r>
                      <a:endParaRPr sz="1200" dirty="0">
                        <a:solidFill>
                          <a:srgbClr val="000000"/>
                        </a:solidFill>
                      </a:endParaRPr>
                    </a:p>
                  </a:txBody>
                  <a:tcPr marL="91425" marR="91425" marT="91425" marB="91425"/>
                </a:tc>
                <a:extLst>
                  <a:ext uri="{0D108BD9-81ED-4DB2-BD59-A6C34878D82A}">
                    <a16:rowId xmlns:a16="http://schemas.microsoft.com/office/drawing/2014/main" val="10001"/>
                  </a:ext>
                </a:extLst>
              </a:tr>
            </a:tbl>
          </a:graphicData>
        </a:graphic>
      </p:graphicFrame>
      <p:sp>
        <p:nvSpPr>
          <p:cNvPr id="118" name="Google Shape;118;p20"/>
          <p:cNvSpPr txBox="1">
            <a:spLocks noGrp="1"/>
          </p:cNvSpPr>
          <p:nvPr>
            <p:ph type="body" idx="1"/>
          </p:nvPr>
        </p:nvSpPr>
        <p:spPr>
          <a:xfrm>
            <a:off x="2864176" y="2638486"/>
            <a:ext cx="5968123" cy="2325399"/>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sz="1400" dirty="0"/>
              <a:t>Explain:</a:t>
            </a:r>
            <a:endParaRPr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675" y="84992"/>
            <a:ext cx="8520600" cy="1324989"/>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2000" dirty="0"/>
              <a:t>6. Generate per-class accuracies and confusion matrices for your classifiers with the provided code. Explain why you will choose one classifier over the other. Then use your chosen classifier to generate predictions to upload to the </a:t>
            </a:r>
            <a:r>
              <a:rPr lang="en" sz="2000" dirty="0" err="1"/>
              <a:t>GradeScope</a:t>
            </a:r>
            <a:r>
              <a:rPr lang="en" sz="2000" dirty="0"/>
              <a:t> </a:t>
            </a:r>
            <a:r>
              <a:rPr lang="en" sz="2000" dirty="0" err="1"/>
              <a:t>autograder</a:t>
            </a:r>
            <a:r>
              <a:rPr lang="en" sz="2000" dirty="0"/>
              <a:t> alongside your code.</a:t>
            </a:r>
            <a:endParaRPr sz="2000" dirty="0"/>
          </a:p>
        </p:txBody>
      </p:sp>
      <p:graphicFrame>
        <p:nvGraphicFramePr>
          <p:cNvPr id="5" name="Table 4">
            <a:extLst>
              <a:ext uri="{FF2B5EF4-FFF2-40B4-BE49-F238E27FC236}">
                <a16:creationId xmlns:a16="http://schemas.microsoft.com/office/drawing/2014/main" id="{7229DC6E-83B6-BFDC-B6B9-30063B6DEE56}"/>
              </a:ext>
            </a:extLst>
          </p:cNvPr>
          <p:cNvGraphicFramePr>
            <a:graphicFrameLocks noGrp="1"/>
          </p:cNvGraphicFramePr>
          <p:nvPr>
            <p:extLst>
              <p:ext uri="{D42A27DB-BD31-4B8C-83A1-F6EECF244321}">
                <p14:modId xmlns:p14="http://schemas.microsoft.com/office/powerpoint/2010/main" val="4270004925"/>
              </p:ext>
            </p:extLst>
          </p:nvPr>
        </p:nvGraphicFramePr>
        <p:xfrm>
          <a:off x="311675" y="1409982"/>
          <a:ext cx="8520599" cy="3566643"/>
        </p:xfrm>
        <a:graphic>
          <a:graphicData uri="http://schemas.openxmlformats.org/drawingml/2006/table">
            <a:tbl>
              <a:tblPr firstRow="1" bandRow="1">
                <a:tableStyleId>{BC89EF96-8CEA-46FF-86C4-4CE0E7609802}</a:tableStyleId>
              </a:tblPr>
              <a:tblGrid>
                <a:gridCol w="698978">
                  <a:extLst>
                    <a:ext uri="{9D8B030D-6E8A-4147-A177-3AD203B41FA5}">
                      <a16:colId xmlns:a16="http://schemas.microsoft.com/office/drawing/2014/main" val="84716003"/>
                    </a:ext>
                  </a:extLst>
                </a:gridCol>
                <a:gridCol w="4095072">
                  <a:extLst>
                    <a:ext uri="{9D8B030D-6E8A-4147-A177-3AD203B41FA5}">
                      <a16:colId xmlns:a16="http://schemas.microsoft.com/office/drawing/2014/main" val="3154533188"/>
                    </a:ext>
                  </a:extLst>
                </a:gridCol>
                <a:gridCol w="3726549">
                  <a:extLst>
                    <a:ext uri="{9D8B030D-6E8A-4147-A177-3AD203B41FA5}">
                      <a16:colId xmlns:a16="http://schemas.microsoft.com/office/drawing/2014/main" val="1777085866"/>
                    </a:ext>
                  </a:extLst>
                </a:gridCol>
              </a:tblGrid>
              <a:tr h="285186">
                <a:tc>
                  <a:txBody>
                    <a:bodyPr/>
                    <a:lstStyle/>
                    <a:p>
                      <a:pPr marL="0" marR="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a:t>
                      </a:r>
                      <a:r>
                        <a:rPr kumimoji="0" lang="en-US" sz="1400" b="1" i="0" u="none" strike="noStrike" kern="0" cap="none" spc="0" normalizeH="0" baseline="0" noProof="0" dirty="0" err="1">
                          <a:ln>
                            <a:noFill/>
                          </a:ln>
                          <a:solidFill>
                            <a:srgbClr val="EF6C00"/>
                          </a:solidFill>
                          <a:effectLst/>
                          <a:uLnTx/>
                          <a:uFillTx/>
                          <a:latin typeface="Courier New"/>
                          <a:cs typeface="Courier New"/>
                          <a:sym typeface="Courier New"/>
                        </a:rPr>
                        <a:t>odel</a:t>
                      </a:r>
                      <a:r>
                        <a:rPr kumimoji="0" lang="en-US" sz="1400" b="1" i="0" u="none" strike="noStrike" kern="0" cap="none" spc="0" normalizeH="0" baseline="0" noProof="0" dirty="0">
                          <a:ln>
                            <a:noFill/>
                          </a:ln>
                          <a:solidFill>
                            <a:srgbClr val="EF6C00"/>
                          </a:solidFill>
                          <a:effectLst/>
                          <a:uLnTx/>
                          <a:uFillTx/>
                          <a:latin typeface="Courier New"/>
                          <a:cs typeface="Courier New"/>
                          <a:sym typeface="Courier New"/>
                        </a:rPr>
                        <a:t>:</a:t>
                      </a:r>
                      <a:endParaRPr lang="en-US" b="0" dirty="0"/>
                    </a:p>
                  </a:txBody>
                  <a:tcPr anchor="ctr"/>
                </a:tc>
                <a:tc>
                  <a:txBody>
                    <a:bodyPr/>
                    <a:lstStyle/>
                    <a:p>
                      <a:pPr algn="l"/>
                      <a:r>
                        <a:rPr kumimoji="0" lang="en" sz="1400" b="1" i="0" u="none" strike="noStrike" kern="0" cap="none" spc="0" normalizeH="0" baseline="0" noProof="0" dirty="0">
                          <a:ln>
                            <a:noFill/>
                          </a:ln>
                          <a:solidFill>
                            <a:srgbClr val="EF6C00"/>
                          </a:solidFill>
                          <a:effectLst/>
                          <a:uLnTx/>
                          <a:uFillTx/>
                          <a:latin typeface="Courier New"/>
                          <a:cs typeface="Courier New"/>
                          <a:sym typeface="Courier New"/>
                        </a:rPr>
                        <a:t>Model:</a:t>
                      </a:r>
                      <a:endParaRPr lang="en-US" b="0" dirty="0"/>
                    </a:p>
                  </a:txBody>
                  <a:tcPr anchor="ctr"/>
                </a:tc>
                <a:extLst>
                  <a:ext uri="{0D108BD9-81ED-4DB2-BD59-A6C34878D82A}">
                    <a16:rowId xmlns:a16="http://schemas.microsoft.com/office/drawing/2014/main" val="2075907566"/>
                  </a:ext>
                </a:extLst>
              </a:tr>
              <a:tr h="178563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ea typeface="Courier New"/>
                          <a:cs typeface="Courier New"/>
                          <a:sym typeface="Courier New"/>
                        </a:rPr>
                        <a:t>Matrix</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&amp;</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 sz="1100" b="1" i="0" u="none" strike="noStrike" kern="0" cap="none" spc="0" normalizeH="0" baseline="0" noProof="0" dirty="0">
                          <a:ln>
                            <a:noFill/>
                          </a:ln>
                          <a:solidFill>
                            <a:srgbClr val="EF6C00"/>
                          </a:solidFill>
                          <a:effectLst/>
                          <a:uLnTx/>
                          <a:uFillTx/>
                          <a:latin typeface="Courier New"/>
                          <a:cs typeface="Courier New"/>
                          <a:sym typeface="Courier New"/>
                        </a:rPr>
                        <a:t>Acc</a:t>
                      </a:r>
                      <a:endParaRPr lang="en-US" sz="1100" dirty="0"/>
                    </a:p>
                  </a:txBody>
                  <a:tcPr anchor="ctr"/>
                </a:tc>
                <a:tc>
                  <a:txBody>
                    <a:bodyPr/>
                    <a:lstStyle/>
                    <a:p>
                      <a:endParaRPr lang="en-US" dirty="0"/>
                    </a:p>
                  </a:txBody>
                  <a:tcPr/>
                </a:tc>
                <a:tc>
                  <a:txBody>
                    <a:bodyPr/>
                    <a:lstStyle/>
                    <a:p>
                      <a:endParaRPr lang="en-US" dirty="0"/>
                    </a:p>
                  </a:txBody>
                  <a:tcPr/>
                </a:tc>
                <a:extLst>
                  <a:ext uri="{0D108BD9-81ED-4DB2-BD59-A6C34878D82A}">
                    <a16:rowId xmlns:a16="http://schemas.microsoft.com/office/drawing/2014/main" val="3453040792"/>
                  </a:ext>
                </a:extLst>
              </a:tr>
              <a:tr h="1476208">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dirty="0">
                          <a:ln>
                            <a:noFill/>
                          </a:ln>
                          <a:solidFill>
                            <a:srgbClr val="EF6C00"/>
                          </a:solidFill>
                          <a:effectLst/>
                          <a:uLnTx/>
                          <a:uFillTx/>
                          <a:latin typeface="Courier New"/>
                          <a:ea typeface="Courier New"/>
                          <a:cs typeface="Courier New"/>
                          <a:sym typeface="Courier New"/>
                        </a:rPr>
                        <a:t>Explain model choice:</a:t>
                      </a:r>
                      <a:endParaRPr lang="en-US" sz="1400"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2781535333"/>
                  </a:ext>
                </a:extLst>
              </a:tr>
            </a:tbl>
          </a:graphicData>
        </a:graphic>
      </p:graphicFrame>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TotalTime>
  <Words>909</Words>
  <Application>Microsoft Macintosh PowerPoint</Application>
  <PresentationFormat>On-screen Show (16:9)</PresentationFormat>
  <Paragraphs>66</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Open Sans</vt:lpstr>
      <vt:lpstr>Arial</vt:lpstr>
      <vt:lpstr>PT Sans Narrow</vt:lpstr>
      <vt:lpstr>Courier New</vt:lpstr>
      <vt:lpstr>Tropic</vt:lpstr>
      <vt:lpstr>ECE 157B/272B  Homework 1 Part A</vt:lpstr>
      <vt:lpstr>1. Experiment with at least one value of the VOCAB_SIZE parameter other than the default 20,000. How does changing this value affect how much text is returned by the example batch decoding under Generate input and target sequence?</vt:lpstr>
      <vt:lpstr>2. Our example code uses the WordPiece tokenizer to break up the text into numbered tokens for the model to learn. If you print the tokenizer vocabulary with tokenizer.get_vocab() you will find that some tokens start with a “##”. What does this represent to WordPiece during text encoding and decoding?</vt:lpstr>
      <vt:lpstr>3. What does the forward method of our recurrent model object do? Implement this function. (You need only go into the level of detail as shown in the provided code -- you do not have to look up the functionalities of the underlying PyTorch sub-modules. Do describe in brief what purpose each is accomplishing.)</vt:lpstr>
      <vt:lpstr>4. When training, PyTorch makes a “graph” of all the operations we perform so that it can automatically compute the derivatives of the different neural net weights with respect to the loss. Why do we need to detach_ this graph from our state variables between batches? Why not start over with a blank state?</vt:lpstr>
      <vt:lpstr>5. Create a model using the create_model function without training it with train_model. Use this model to generate some text. Does this text appear structured? Does it at least seem Shakespearean? Include at least two samples of at least 20 tokens each and comment on the output.</vt:lpstr>
      <vt:lpstr>6. Train a model using model_type=RNN,LSTM,GRU. For each model, record one generated text of at least 10 tokens that you found interesting for understanding the model behavior. How does each model’s output compare to each other? What happens if you set by_prob=False and by_prob=True?</vt:lpstr>
      <vt:lpstr>ECE 157B/272B  Homework 1 Part B</vt:lpstr>
      <vt:lpstr>1. Make up 3 sentences. Use the tokenizer_toy (as provided in the notebook) to encode and inspect the sentences with a tokenizer trained on shakespeare_train and one trained on daily_dialog_train. Comment on which tokenizer handles each of your sentences “better”. Specify what your definition of “better” is.</vt:lpstr>
      <vt:lpstr>2. Train a vocabulary on each of {shakespeare_train only, daily_dialog_train only, and both}. Why are the peak count of token lengths different between the the three vocabularies? </vt:lpstr>
      <vt:lpstr>3. Use the provided notebook code to tokenize each dataset with each vocabulary. Include the dataset size (after tokenization) for each dataset and vocabulary pair in your report. Which dataset+vocabulary pairing has the largest dataset size? Why? Which has the smallest? Why?</vt:lpstr>
      <vt:lpstr>4. Complete the forward function in RecurrentModel from Part A to implement a recurrent language model. Note your choice of optimizer, model type, and parameters in your report. Then train two language models, one on each dataset, tokenized using the tokenizer trained on both datasets. Test the perplexity of each model on each dataset and place the results in your report slides. Explain why the perplexities are different between the two models on the same dataset.</vt:lpstr>
      <vt:lpstr>5. Complete the accuracy calculation code in train_epoch_classifier and evaluate_classifier. Note your choice of optimizer, model type, and parameters in your report. Then train two language models, one pre-trained with the text generation task, and one randomly initialized, on the daily_dialog emotion classification task. Test the accuracy of each model on the validation set and place the results in your report slides. Explain why the accuracies are different between the two models on the same dataset.</vt:lpstr>
      <vt:lpstr>6. Generate per-class accuracies and confusion matrices for your classifiers with the provided code. Explain why you will choose one classifier over the other. Then use your chosen classifier to generate predictions to upload to the GradeScope autograder alongside your 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Heekyung Lee</cp:lastModifiedBy>
  <cp:revision>7</cp:revision>
  <dcterms:modified xsi:type="dcterms:W3CDTF">2025-01-12T08:34:50Z</dcterms:modified>
</cp:coreProperties>
</file>