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77"/>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288"/>
    <p:restoredTop sz="94693"/>
  </p:normalViewPr>
  <p:slideViewPr>
    <p:cSldViewPr snapToGrid="0">
      <p:cViewPr varScale="1">
        <p:scale>
          <a:sx n="102" d="100"/>
          <a:sy n="102" d="100"/>
        </p:scale>
        <p:origin x="184" y="10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 decrease in quality as well.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2"/>
            <a:ext cx="8520600" cy="3399873"/>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US" dirty="0"/>
              <a:t>The ## characters represent sub-word units that are continuations of a word. This convention is used to indicate that these tokens are not standalone words but are part of a larger word. During the encoding process, </a:t>
            </a:r>
            <a:r>
              <a:rPr lang="en-US" dirty="0" err="1"/>
              <a:t>WordPiece</a:t>
            </a:r>
            <a:r>
              <a:rPr lang="en-US" dirty="0"/>
              <a:t> splits words into </a:t>
            </a:r>
            <a:r>
              <a:rPr lang="en-US" dirty="0" err="1"/>
              <a:t>subwords</a:t>
            </a:r>
            <a:r>
              <a:rPr lang="en-US" dirty="0"/>
              <a:t> or characters based on the frequency of substrings in the training set. If a word cannot be represented by a single token in the vocabulary, it is broken into smaller </a:t>
            </a:r>
            <a:r>
              <a:rPr lang="en-US" dirty="0" err="1"/>
              <a:t>subwords</a:t>
            </a:r>
            <a:r>
              <a:rPr lang="en-US" dirty="0"/>
              <a:t>. Any subsequent </a:t>
            </a:r>
            <a:r>
              <a:rPr lang="en-US" dirty="0" err="1"/>
              <a:t>subword</a:t>
            </a:r>
            <a:r>
              <a:rPr lang="en-US" dirty="0"/>
              <a:t> parts are prefixed with ## to indicate that they are continuations of the previous token. For example, ”running” could be represented as [“run”,”##</a:t>
            </a:r>
            <a:r>
              <a:rPr lang="en-US" dirty="0" err="1"/>
              <a:t>ning</a:t>
            </a:r>
            <a:r>
              <a:rPr lang="en-US" dirty="0"/>
              <a:t>”]. Tokens that contain the ## string are treated as part of the previous token and concatenated directly. </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496642"/>
            <a:ext cx="8520600" cy="3566218"/>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600" dirty="0"/>
              <a:t>(1. Explain </a:t>
            </a:r>
            <a:r>
              <a:rPr lang="en-US" sz="600" i="1" dirty="0"/>
              <a:t>forward</a:t>
            </a:r>
            <a:r>
              <a:rPr lang="en-US" sz="600" dirty="0"/>
              <a:t> method.): In </a:t>
            </a:r>
            <a:r>
              <a:rPr lang="en-US" sz="600" dirty="0" err="1"/>
              <a:t>PyTorch</a:t>
            </a:r>
            <a:r>
              <a:rPr lang="en-US" sz="600" dirty="0"/>
              <a:t>, the forward function defines the computations that a model performs when it makes an initial forward pass through the data when training. It processes input data step by step, propagates the learnings through the network layers, and then produces an output, such as logits for the next token prediction, and updates the hidden state in the case of the RNN. </a:t>
            </a:r>
          </a:p>
          <a:p>
            <a:pPr marL="0" lvl="0" indent="0" algn="l" rtl="0">
              <a:lnSpc>
                <a:spcPct val="100000"/>
              </a:lnSpc>
              <a:spcBef>
                <a:spcPts val="0"/>
              </a:spcBef>
              <a:spcAft>
                <a:spcPts val="1200"/>
              </a:spcAft>
              <a:buNone/>
            </a:pPr>
            <a:r>
              <a:rPr lang="en-US" sz="600" dirty="0"/>
              <a:t>(2. Copy and paste TODOs and explain each.) </a:t>
            </a: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Embed the input tokens using the embedding layer – </a:t>
            </a:r>
          </a:p>
          <a:p>
            <a:pPr marL="0" indent="0">
              <a:lnSpc>
                <a:spcPct val="100000"/>
              </a:lnSpc>
              <a:spcAft>
                <a:spcPts val="1200"/>
              </a:spcAft>
              <a:buNone/>
            </a:pPr>
            <a:r>
              <a:rPr lang="en-US" sz="600" b="0" dirty="0">
                <a:solidFill>
                  <a:srgbClr val="9CDCFE"/>
                </a:solidFill>
                <a:effectLst/>
                <a:latin typeface="Menlo" panose="020B0609030804020204" pitchFamily="49" charset="0"/>
              </a:rPr>
              <a:t>embedded</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embedding</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x</a:t>
            </a:r>
            <a:r>
              <a:rPr lang="en-US" sz="600" b="0" dirty="0">
                <a:solidFill>
                  <a:srgbClr val="D4D4D4"/>
                </a:solidFill>
                <a:effectLst/>
                <a:latin typeface="Menlo" panose="020B0609030804020204" pitchFamily="49" charset="0"/>
              </a:rPr>
              <a:t>)</a:t>
            </a:r>
            <a:endParaRPr lang="en-US" sz="600" b="1" dirty="0">
              <a:solidFill>
                <a:srgbClr val="0D6401"/>
              </a:solidFill>
              <a:effectLst/>
              <a:latin typeface=".AppleSystemUIFontMonospaced"/>
            </a:endParaRPr>
          </a:p>
          <a:p>
            <a:pPr marL="0" indent="0">
              <a:lnSpc>
                <a:spcPct val="100000"/>
              </a:lnSpc>
              <a:spcAft>
                <a:spcPts val="1200"/>
              </a:spcAft>
              <a:buNone/>
            </a:pPr>
            <a:r>
              <a:rPr lang="en-US" sz="600" b="1" dirty="0">
                <a:solidFill>
                  <a:srgbClr val="0D6401"/>
                </a:solidFill>
                <a:effectLst/>
                <a:latin typeface=".AppleSystemUIFontMonospaced"/>
              </a:rPr>
              <a:t>This line converts token IDs into dense vectors, converting each token ID into it’s corresponding embedding vector, which encodes semantic information about the token.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Pass the embedded input tokens into the recurrent module along with the previous</a:t>
            </a:r>
            <a:r>
              <a:rPr lang="en-US" sz="600" b="1" dirty="0">
                <a:solidFill>
                  <a:srgbClr val="0D6401"/>
                </a:solidFill>
                <a:effectLst/>
                <a:latin typeface=".AppleSystemUIFontMonospaced"/>
              </a:rPr>
              <a:t> </a:t>
            </a:r>
            <a:r>
              <a:rPr lang="en-US" sz="600" b="1" dirty="0">
                <a:solidFill>
                  <a:srgbClr val="0D6401"/>
                </a:solidFill>
                <a:latin typeface=".AppleSystemUIFontMonospaced"/>
              </a:rPr>
              <a:t>– </a:t>
            </a:r>
          </a:p>
          <a:p>
            <a:pPr marL="0" indent="0">
              <a:lnSpc>
                <a:spcPct val="100000"/>
              </a:lnSpc>
              <a:spcAft>
                <a:spcPts val="1200"/>
              </a:spcAft>
              <a:buNone/>
            </a:pPr>
            <a:r>
              <a:rPr lang="en-US" sz="600" b="0" dirty="0">
                <a:solidFill>
                  <a:srgbClr val="9CDCFE"/>
                </a:solidFill>
                <a:effectLst/>
                <a:latin typeface="Menlo" panose="020B0609030804020204" pitchFamily="49" charset="0"/>
              </a:rPr>
              <a:t>output</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state</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rnn</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embedded</a:t>
            </a:r>
            <a:r>
              <a:rPr lang="en-US" sz="600" b="0" dirty="0">
                <a:solidFill>
                  <a:srgbClr val="D4D4D4"/>
                </a:solidFill>
                <a:effectLst/>
                <a:latin typeface="Menlo" panose="020B0609030804020204" pitchFamily="49" charset="0"/>
              </a:rPr>
              <a:t>, </a:t>
            </a:r>
            <a:r>
              <a:rPr lang="en-US" sz="600" b="0" dirty="0" err="1">
                <a:solidFill>
                  <a:srgbClr val="9CDCFE"/>
                </a:solidFill>
                <a:effectLst/>
                <a:latin typeface="Menlo" panose="020B0609030804020204" pitchFamily="49" charset="0"/>
              </a:rPr>
              <a:t>prev_state</a:t>
            </a:r>
            <a:r>
              <a:rPr lang="en-US" sz="600" b="0" dirty="0">
                <a:solidFill>
                  <a:srgbClr val="D4D4D4"/>
                </a:solidFill>
                <a:effectLst/>
                <a:latin typeface="Menlo" panose="020B0609030804020204" pitchFamily="49" charset="0"/>
              </a:rPr>
              <a:t>)</a:t>
            </a:r>
            <a:endParaRPr lang="en-US" sz="600" b="1" dirty="0">
              <a:solidFill>
                <a:srgbClr val="0D6401"/>
              </a:solidFill>
              <a:latin typeface=".AppleSystemUIFontMonospaced"/>
            </a:endParaRPr>
          </a:p>
          <a:p>
            <a:pPr marL="0" indent="0">
              <a:lnSpc>
                <a:spcPct val="100000"/>
              </a:lnSpc>
              <a:spcAft>
                <a:spcPts val="1200"/>
              </a:spcAft>
              <a:buNone/>
            </a:pPr>
            <a:r>
              <a:rPr lang="en-US" sz="600" b="1" dirty="0">
                <a:solidFill>
                  <a:srgbClr val="0D6401"/>
                </a:solidFill>
                <a:latin typeface=".AppleSystemUIFontMonospaced"/>
              </a:rPr>
              <a:t>next, the model passes the embeddings through the recurrent layer, which is defined by the model we choose, passing in the previous state too in typical RNN style. This outputs not only the output for the layer but also the state, to be used in the next round.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Pass the final embedding vector into the linear layer to get the logits </a:t>
            </a:r>
          </a:p>
          <a:p>
            <a:pPr marL="0" indent="0">
              <a:lnSpc>
                <a:spcPct val="100000"/>
              </a:lnSpc>
              <a:spcAft>
                <a:spcPts val="1200"/>
              </a:spcAft>
              <a:buNone/>
            </a:pPr>
            <a:r>
              <a:rPr lang="en-US" sz="600" b="0" dirty="0">
                <a:solidFill>
                  <a:srgbClr val="9CDCFE"/>
                </a:solidFill>
                <a:effectLst/>
                <a:latin typeface="Menlo" panose="020B0609030804020204" pitchFamily="49" charset="0"/>
              </a:rPr>
              <a:t>logits</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linear</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output</a:t>
            </a:r>
            <a:r>
              <a:rPr lang="en-US" sz="600" b="0" dirty="0">
                <a:solidFill>
                  <a:srgbClr val="D4D4D4"/>
                </a:solidFill>
                <a:effectLst/>
                <a:latin typeface="Menlo" panose="020B0609030804020204" pitchFamily="49" charset="0"/>
              </a:rPr>
              <a:t>)</a:t>
            </a:r>
            <a:endParaRPr lang="en-US" sz="600" dirty="0">
              <a:solidFill>
                <a:srgbClr val="0D6401"/>
              </a:solidFill>
              <a:effectLst/>
              <a:latin typeface=".AppleSystemUIFontMonospaced"/>
            </a:endParaRPr>
          </a:p>
          <a:p>
            <a:pPr marL="0" indent="0">
              <a:lnSpc>
                <a:spcPct val="100000"/>
              </a:lnSpc>
              <a:spcAft>
                <a:spcPts val="1200"/>
              </a:spcAft>
              <a:buNone/>
            </a:pPr>
            <a:r>
              <a:rPr lang="en-US" sz="600" b="1" dirty="0">
                <a:solidFill>
                  <a:srgbClr val="0D6401"/>
                </a:solidFill>
                <a:effectLst/>
                <a:latin typeface=".AppleSystemUIFontMonospaced"/>
              </a:rPr>
              <a:t>The RNN output is passed into a linear (or fully connected) layer to generate logits, mapping the hidden state to a vector of size </a:t>
            </a:r>
            <a:r>
              <a:rPr lang="en-US" sz="600" b="1" dirty="0" err="1">
                <a:solidFill>
                  <a:srgbClr val="0D6401"/>
                </a:solidFill>
                <a:effectLst/>
                <a:latin typeface=".AppleSystemUIFontMonospaced"/>
              </a:rPr>
              <a:t>vocab_size</a:t>
            </a:r>
            <a:r>
              <a:rPr lang="en-US" sz="600" b="1" dirty="0">
                <a:solidFill>
                  <a:srgbClr val="0D6401"/>
                </a:solidFill>
                <a:latin typeface=".AppleSystemUIFontMonospaced"/>
              </a:rPr>
              <a:t>, which then represents a score for a token in the vocabulary. This is then used later to generate text.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Return the logits and the final states</a:t>
            </a:r>
          </a:p>
          <a:p>
            <a:pPr marL="0" indent="0">
              <a:lnSpc>
                <a:spcPct val="100000"/>
              </a:lnSpc>
              <a:spcAft>
                <a:spcPts val="1200"/>
              </a:spcAft>
              <a:buNone/>
            </a:pPr>
            <a:r>
              <a:rPr lang="en-US" sz="600" b="0" dirty="0">
                <a:solidFill>
                  <a:srgbClr val="C586C0"/>
                </a:solidFill>
                <a:effectLst/>
                <a:latin typeface="Menlo" panose="020B0609030804020204" pitchFamily="49" charset="0"/>
              </a:rPr>
              <a:t>return</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logits</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state</a:t>
            </a:r>
            <a:endParaRPr lang="en-US" sz="600" dirty="0">
              <a:solidFill>
                <a:srgbClr val="0D6401"/>
              </a:solidFill>
              <a:latin typeface=".AppleSystemUIFontMonospaced"/>
            </a:endParaRPr>
          </a:p>
          <a:p>
            <a:pPr marL="0" indent="0">
              <a:lnSpc>
                <a:spcPct val="100000"/>
              </a:lnSpc>
              <a:spcAft>
                <a:spcPts val="1200"/>
              </a:spcAft>
              <a:buNone/>
            </a:pPr>
            <a:r>
              <a:rPr lang="en-US" sz="600" dirty="0">
                <a:solidFill>
                  <a:srgbClr val="0D6401"/>
                </a:solidFill>
                <a:effectLst/>
                <a:latin typeface=".AppleSystemUIFontMonospaced"/>
              </a:rPr>
              <a:t> </a:t>
            </a:r>
            <a:r>
              <a:rPr lang="en-US" sz="600" b="1" dirty="0">
                <a:solidFill>
                  <a:srgbClr val="0D6401"/>
                </a:solidFill>
                <a:effectLst/>
                <a:latin typeface=".AppleSystemUIFontMonospaced"/>
              </a:rPr>
              <a:t>Final step is to return the data generated into the model., to be used for the next forward pass. </a:t>
            </a:r>
            <a:endParaRPr lang="en-US" sz="600" dirty="0">
              <a:solidFill>
                <a:srgbClr val="0D6401"/>
              </a:solidFill>
              <a:effectLst/>
              <a:latin typeface=".AppleSystemUIFontMonospaced"/>
            </a:endParaRPr>
          </a:p>
          <a:p>
            <a:pPr marL="0" lvl="0" indent="0" algn="l" rtl="0">
              <a:lnSpc>
                <a:spcPct val="100000"/>
              </a:lnSpc>
              <a:spcBef>
                <a:spcPts val="0"/>
              </a:spcBef>
              <a:spcAft>
                <a:spcPts val="1200"/>
              </a:spcAft>
              <a:buNone/>
            </a:pPr>
            <a:endParaRPr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1200"/>
              </a:spcAft>
              <a:buNone/>
            </a:pPr>
            <a:r>
              <a:rPr lang="en-US" dirty="0"/>
              <a:t>This is a critical step of training RNN models. Without the detach operation, the model would try to backpropagate through the entire history of the sequence using the generated graph of operations, which in an RNN can be unfeasibly long, leading to very large memory usage and long training times. We don’t need to backpropagate through the entire graph because we’ve already stored previous knowledge in the hidden state. However, we can’t start over with a blank state either, as the loss of context would reset the RNN’s memory. If you reset the state, that would mean the model forgets prior words, which hurts accuracy. Retaining but detaching the state between batches allows the model leverage the context without rebuilding the graph or starting fresh.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 sz="1200" dirty="0"/>
              <a:t>(copy and paste the output text.)</a:t>
            </a:r>
            <a:endParaRPr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(copy and paste the output text.)</a:t>
            </a:r>
          </a:p>
        </p:txBody>
      </p:sp>
      <p:sp>
        <p:nvSpPr>
          <p:cNvPr id="111" name="Google Shape;111;p20"/>
          <p:cNvSpPr txBox="1">
            <a:spLocks noGrp="1"/>
          </p:cNvSpPr>
          <p:nvPr>
            <p:ph type="body" idx="1"/>
          </p:nvPr>
        </p:nvSpPr>
        <p:spPr>
          <a:xfrm>
            <a:off x="311700" y="3462150"/>
            <a:ext cx="85206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2373052013"/>
              </p:ext>
            </p:extLst>
          </p:nvPr>
        </p:nvGraphicFramePr>
        <p:xfrm>
          <a:off x="311700" y="1547242"/>
          <a:ext cx="8571044" cy="3578784"/>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13619">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76485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99147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r>
                        <a:rPr lang="en-US" sz="800" b="0" i="0" u="none" strike="noStrike" cap="none" dirty="0">
                          <a:solidFill>
                            <a:srgbClr val="000000"/>
                          </a:solidFill>
                          <a:effectLst/>
                          <a:latin typeface="+mn-lt"/>
                          <a:ea typeface="+mn-ea"/>
                          <a:cs typeface="+mn-cs"/>
                          <a:sym typeface="Arial"/>
                        </a:rPr>
                        <a:t>bottom : is to have reverenced heard, sir, </a:t>
                      </a:r>
                      <a:r>
                        <a:rPr lang="en-US" sz="800" b="0" i="0" u="none" strike="noStrike" cap="none" dirty="0" err="1">
                          <a:solidFill>
                            <a:srgbClr val="000000"/>
                          </a:solidFill>
                          <a:effectLst/>
                          <a:latin typeface="+mn-lt"/>
                          <a:ea typeface="+mn-ea"/>
                          <a:cs typeface="+mn-cs"/>
                          <a:sym typeface="Arial"/>
                        </a:rPr>
                        <a:t>aufidius</a:t>
                      </a:r>
                      <a:r>
                        <a:rPr lang="en-US" sz="800" b="0" i="0" u="none" strike="noStrike" cap="none" dirty="0">
                          <a:solidFill>
                            <a:srgbClr val="000000"/>
                          </a:solidFill>
                          <a:effectLst/>
                          <a:latin typeface="+mn-lt"/>
                          <a:ea typeface="+mn-ea"/>
                          <a:cs typeface="+mn-cs"/>
                          <a:sym typeface="Arial"/>
                        </a:rPr>
                        <a:t> : to the bauble? all, good lady, this. first senator : so speaks, do not speak maid : whose heard first senator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are bound much than those? </a:t>
                      </a:r>
                      <a:r>
                        <a:rPr lang="en-US" sz="800" b="0" i="0" u="none" strike="noStrike" cap="none" dirty="0" err="1">
                          <a:solidFill>
                            <a:srgbClr val="000000"/>
                          </a:solidFill>
                          <a:effectLst/>
                          <a:latin typeface="+mn-lt"/>
                          <a:ea typeface="+mn-ea"/>
                          <a:cs typeface="+mn-cs"/>
                          <a:sym typeface="Arial"/>
                        </a:rPr>
                        <a:t>edmund</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tangstragaf</a:t>
                      </a:r>
                      <a:r>
                        <a:rPr lang="en-US" sz="800" b="0" i="0" u="none" strike="noStrike" cap="none" dirty="0">
                          <a:solidFill>
                            <a:srgbClr val="000000"/>
                          </a:solidFill>
                          <a:effectLst/>
                          <a:latin typeface="+mn-lt"/>
                          <a:ea typeface="+mn-ea"/>
                          <a:cs typeface="+mn-cs"/>
                          <a:sym typeface="Arial"/>
                        </a:rPr>
                        <a:t> men, </a:t>
                      </a:r>
                      <a:r>
                        <a:rPr lang="en-US" sz="800" b="0" i="0" u="none" strike="noStrike" cap="none" dirty="0" err="1">
                          <a:solidFill>
                            <a:srgbClr val="000000"/>
                          </a:solidFill>
                          <a:effectLst/>
                          <a:latin typeface="+mn-lt"/>
                          <a:ea typeface="+mn-ea"/>
                          <a:cs typeface="+mn-cs"/>
                          <a:sym typeface="Arial"/>
                        </a:rPr>
                        <a:t>belarius</a:t>
                      </a:r>
                      <a:r>
                        <a:rPr lang="en-US" sz="800" b="0" i="0" u="none" strike="noStrike" cap="none" dirty="0">
                          <a:solidFill>
                            <a:srgbClr val="000000"/>
                          </a:solidFill>
                          <a:effectLst/>
                          <a:latin typeface="+mn-lt"/>
                          <a:ea typeface="+mn-ea"/>
                          <a:cs typeface="+mn-cs"/>
                          <a:sym typeface="Arial"/>
                        </a:rPr>
                        <a:t> : he were acquainted to hector : be for my necessity : two thing, </a:t>
                      </a:r>
                      <a:r>
                        <a:rPr lang="en-US" sz="800" b="0" i="0" u="none" strike="noStrike" cap="none" dirty="0" err="1">
                          <a:solidFill>
                            <a:srgbClr val="000000"/>
                          </a:solidFill>
                          <a:effectLst/>
                          <a:latin typeface="+mn-lt"/>
                          <a:ea typeface="+mn-ea"/>
                          <a:cs typeface="+mn-cs"/>
                          <a:sym typeface="Arial"/>
                        </a:rPr>
                        <a:t>imogen</a:t>
                      </a:r>
                      <a:r>
                        <a:rPr lang="en-US" sz="800" b="0" i="0" u="none" strike="noStrike" cap="none" dirty="0">
                          <a:solidFill>
                            <a:srgbClr val="000000"/>
                          </a:solidFill>
                          <a:effectLst/>
                          <a:latin typeface="+mn-lt"/>
                          <a:ea typeface="+mn-ea"/>
                          <a:cs typeface="+mn-cs"/>
                          <a:sym typeface="Arial"/>
                        </a:rPr>
                        <a:t> : expected, come hither, oft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speaks. hamlet : hark,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tell my curse, </a:t>
                      </a:r>
                      <a:br>
                        <a:rPr lang="en-US" sz="800" dirty="0">
                          <a:solidFill>
                            <a:srgbClr val="000000"/>
                          </a:solidFill>
                        </a:rPr>
                      </a:b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53485">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a:t>
                      </a:r>
                      <a:endParaRPr lang="en-US" sz="14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&lt;</a:t>
            </a:r>
            <a:r>
              <a:rPr lang="en" dirty="0" err="1"/>
              <a:t>Student_Name</a:t>
            </a:r>
            <a:r>
              <a:rPr lang="en" dirty="0"/>
              <a:t>&gt;</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75469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1. Make up 3 sentences. Use the </a:t>
            </a:r>
            <a:r>
              <a:rPr lang="en" sz="1400" dirty="0" err="1">
                <a:latin typeface="Courier New"/>
                <a:ea typeface="Courier New"/>
                <a:cs typeface="Courier New"/>
                <a:sym typeface="Courier New"/>
              </a:rPr>
              <a:t>tokenizer_toy</a:t>
            </a:r>
            <a:r>
              <a:rPr lang="en" sz="1400" dirty="0"/>
              <a:t> (as provided in the notebook) to encode and inspect the sentences with a tokenizer trained on </a:t>
            </a:r>
            <a:r>
              <a:rPr lang="en" sz="1400" dirty="0" err="1"/>
              <a:t>shakespeare_train</a:t>
            </a:r>
            <a:r>
              <a:rPr lang="en" sz="1400" dirty="0"/>
              <a:t> and one trained on </a:t>
            </a:r>
            <a:r>
              <a:rPr lang="en" sz="1400" dirty="0" err="1"/>
              <a:t>daily_dialog_train</a:t>
            </a:r>
            <a:r>
              <a:rPr lang="en" sz="1400" dirty="0"/>
              <a:t>. Comment on which tokenizer handles each of your sentences “better”. Specify what your definition of “better” is.</a:t>
            </a:r>
            <a:endParaRPr sz="14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849087"/>
            <a:ext cx="8520600" cy="4066672"/>
          </a:xfrm>
          <a:prstGeom prst="rect">
            <a:avLst/>
          </a:prstGeom>
        </p:spPr>
        <p:txBody>
          <a:bodyPr spcFirstLastPara="1" wrap="square" lIns="91425" tIns="91425" rIns="91425" bIns="91425" anchor="t" anchorCtr="0">
            <a:normAutofit fontScale="77500" lnSpcReduction="20000"/>
          </a:bodyPr>
          <a:lstStyle/>
          <a:p>
            <a:pPr marL="0" lvl="0" indent="0" algn="l" rtl="0">
              <a:spcBef>
                <a:spcPts val="0"/>
              </a:spcBef>
              <a:spcAft>
                <a:spcPts val="1200"/>
              </a:spcAft>
              <a:buNone/>
            </a:pPr>
            <a:r>
              <a:rPr lang="en-US" dirty="0"/>
              <a:t>“Have you done the machine learning homework for this class yet? I sure haven’t. I hope the teaching assistants will be nice to us, they will probably not like what they see. “</a:t>
            </a:r>
          </a:p>
          <a:p>
            <a:pPr marL="0" lvl="0" indent="0" algn="l" rtl="0">
              <a:spcBef>
                <a:spcPts val="0"/>
              </a:spcBef>
              <a:spcAft>
                <a:spcPts val="1200"/>
              </a:spcAft>
              <a:buNone/>
            </a:pPr>
            <a:r>
              <a:rPr lang="en-US" b="1" dirty="0"/>
              <a:t>Daily Dialog</a:t>
            </a:r>
            <a:r>
              <a:rPr lang="en-US" dirty="0"/>
              <a:t>: Tokens:  ['have', 'you', 'done', 'the', 'machine', 'learning', 'homework', 'for', 'this', 'class', 'yet', '?', '</a:t>
            </a:r>
            <a:r>
              <a:rPr lang="en-US" dirty="0" err="1"/>
              <a:t>i</a:t>
            </a:r>
            <a:r>
              <a:rPr lang="en-US" dirty="0"/>
              <a:t>', 'sure', 'haven', '’', 't', '.', '</a:t>
            </a:r>
            <a:r>
              <a:rPr lang="en-US" dirty="0" err="1"/>
              <a:t>i</a:t>
            </a:r>
            <a:r>
              <a:rPr lang="en-US" dirty="0"/>
              <a:t>', 'hope', 'the', 'teaching', 'assistant', '##s', 'will', 'be', 'nice', 'to', 'us', ',', 'they', 'will', 'probably', 'not', 'like', 'what', 'they', 'see', '.']</a:t>
            </a:r>
          </a:p>
          <a:p>
            <a:pPr marL="0" lvl="0" indent="0" algn="l" rtl="0">
              <a:spcBef>
                <a:spcPts val="0"/>
              </a:spcBef>
              <a:spcAft>
                <a:spcPts val="1200"/>
              </a:spcAft>
              <a:buNone/>
            </a:pPr>
            <a:r>
              <a:rPr lang="en-US" dirty="0"/>
              <a:t>IDs:     [168, 124, 824, 125, 1680, 2113, 2707, 160, 198, 660, 869, 29, 41, 334, 789, 67, 52, 14, 41, 668, 125, 4461, 2978, 83, 229, 162, 536, 127, 338, 12, 263, 229, 1050, 227, 207, 173, 263, 253, 14]</a:t>
            </a:r>
          </a:p>
          <a:p>
            <a:pPr marL="0" lvl="0" indent="0" algn="l" rtl="0">
              <a:spcBef>
                <a:spcPts val="0"/>
              </a:spcBef>
              <a:spcAft>
                <a:spcPts val="1200"/>
              </a:spcAft>
              <a:buNone/>
            </a:pPr>
            <a:r>
              <a:rPr lang="en-US" b="1" dirty="0"/>
              <a:t>Shakespeare: Tokens</a:t>
            </a:r>
            <a:r>
              <a:rPr lang="en-US" dirty="0"/>
              <a:t>:  ['have', 'you', 'done', 'the', '</a:t>
            </a:r>
            <a:r>
              <a:rPr lang="en-US" dirty="0" err="1"/>
              <a:t>mach</a:t>
            </a:r>
            <a:r>
              <a:rPr lang="en-US" dirty="0"/>
              <a:t>', '##</a:t>
            </a:r>
            <a:r>
              <a:rPr lang="en-US" dirty="0" err="1"/>
              <a:t>ine</a:t>
            </a:r>
            <a:r>
              <a:rPr lang="en-US" dirty="0"/>
              <a:t>', 'learning', 'home', '##w', '##</a:t>
            </a:r>
            <a:r>
              <a:rPr lang="en-US" dirty="0" err="1"/>
              <a:t>ork</a:t>
            </a:r>
            <a:r>
              <a:rPr lang="en-US" dirty="0"/>
              <a:t>', 'for', 'this', 'cl', '##ass', 'yet', '?', '</a:t>
            </a:r>
            <a:r>
              <a:rPr lang="en-US" dirty="0" err="1"/>
              <a:t>i</a:t>
            </a:r>
            <a:r>
              <a:rPr lang="en-US" dirty="0"/>
              <a:t>', 'sure', 'haven', '&lt;</a:t>
            </a:r>
            <a:r>
              <a:rPr lang="en-US" dirty="0" err="1"/>
              <a:t>unk</a:t>
            </a:r>
            <a:r>
              <a:rPr lang="en-US" dirty="0"/>
              <a:t>&gt;', 't', '.', '</a:t>
            </a:r>
            <a:r>
              <a:rPr lang="en-US" dirty="0" err="1"/>
              <a:t>i</a:t>
            </a:r>
            <a:r>
              <a:rPr lang="en-US" dirty="0"/>
              <a:t>', 'hope', 'the', 'teaching', 'assistants', 'will', 'be', 'nice', 'to', 'us', ',', 'they', 'will', 'pro', '##b', '##ably', 'not', 'like', 'what', 'they', 'see', '.']</a:t>
            </a:r>
          </a:p>
          <a:p>
            <a:pPr marL="0" lvl="0" indent="0" algn="l" rtl="0">
              <a:spcBef>
                <a:spcPts val="0"/>
              </a:spcBef>
              <a:spcAft>
                <a:spcPts val="1200"/>
              </a:spcAft>
              <a:buNone/>
            </a:pPr>
            <a:r>
              <a:rPr lang="en-US" dirty="0"/>
              <a:t>IDs:     [177, 103, 767, 93, 11309, 220, 5089, 1204, 70, 437, 132, 167, 230, 290, 417, 19, 30, 1273, 6356, 0, 41, 7, 30, 1250, 93, 7857, 15333, 189, 115, 4611, 102, 361, 5, 295, 189, 428, 67, 5910, 143, 362, 200, 295, 374, 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2226</TotalTime>
  <Words>2506</Words>
  <Application>Microsoft Macintosh PowerPoint</Application>
  <PresentationFormat>On-screen Show (16:9)</PresentationFormat>
  <Paragraphs>92</Paragraphs>
  <Slides>14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Courier New</vt:lpstr>
      <vt:lpstr>Menlo</vt:lpstr>
      <vt:lpstr>Open Sans</vt:lpstr>
      <vt:lpstr>Arial</vt:lpstr>
      <vt:lpstr>PT Sans Narrow</vt:lpstr>
      <vt:lpstr>.AppleSystemUIFontMonospaced</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19</cp:revision>
  <dcterms:modified xsi:type="dcterms:W3CDTF">2025-01-21T20:43:39Z</dcterms:modified>
</cp:coreProperties>
</file>