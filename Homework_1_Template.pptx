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407"/>
    <p:restoredTop sz="94693"/>
  </p:normalViewPr>
  <p:slideViewPr>
    <p:cSldViewPr snapToGrid="0">
      <p:cViewPr>
        <p:scale>
          <a:sx n="97" d="100"/>
          <a:sy n="97" d="100"/>
        </p:scale>
        <p:origin x="128" y="116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Additionally, there was a decrease in quality as well, with the 1000 vocab size trial resulting in more broken sentences and poor quality formatting.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2"/>
            <a:ext cx="8520600" cy="3399873"/>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US" dirty="0"/>
              <a:t>The ## characters represent sub-word units that are continuations of a word. This convention is used to indicate that these tokens are not standalone words but are part of a larger word. During the encoding process, </a:t>
            </a:r>
            <a:r>
              <a:rPr lang="en-US" dirty="0" err="1"/>
              <a:t>WordPiece</a:t>
            </a:r>
            <a:r>
              <a:rPr lang="en-US" dirty="0"/>
              <a:t> splits words into </a:t>
            </a:r>
            <a:r>
              <a:rPr lang="en-US" dirty="0" err="1"/>
              <a:t>subwords</a:t>
            </a:r>
            <a:r>
              <a:rPr lang="en-US" dirty="0"/>
              <a:t> or characters based on the frequency of substrings in the training set. If a word cannot be represented by a single token in the vocabulary, it is broken into smaller </a:t>
            </a:r>
            <a:r>
              <a:rPr lang="en-US" dirty="0" err="1"/>
              <a:t>subwords</a:t>
            </a:r>
            <a:r>
              <a:rPr lang="en-US" dirty="0"/>
              <a:t>. Any subsequent </a:t>
            </a:r>
            <a:r>
              <a:rPr lang="en-US" dirty="0" err="1"/>
              <a:t>subword</a:t>
            </a:r>
            <a:r>
              <a:rPr lang="en-US" dirty="0"/>
              <a:t> parts are prefixed with ## to indicate that they are continuations of the previous token. For example, ”running” could be represented as [“run”,”##</a:t>
            </a:r>
            <a:r>
              <a:rPr lang="en-US" dirty="0" err="1"/>
              <a:t>ning</a:t>
            </a:r>
            <a:r>
              <a:rPr lang="en-US" dirty="0"/>
              <a:t>”]. Tokens that contain the ## string are treated as part of the previous token and concatenated directly.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496642"/>
            <a:ext cx="8520600" cy="3566218"/>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600" dirty="0"/>
              <a:t>(1. Explain </a:t>
            </a:r>
            <a:r>
              <a:rPr lang="en-US" sz="600" i="1" dirty="0"/>
              <a:t>forward</a:t>
            </a:r>
            <a:r>
              <a:rPr lang="en-US" sz="600" dirty="0"/>
              <a:t> method.): In </a:t>
            </a:r>
            <a:r>
              <a:rPr lang="en-US" sz="600" dirty="0" err="1"/>
              <a:t>PyTorch</a:t>
            </a:r>
            <a:r>
              <a:rPr lang="en-US" sz="600"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lnSpc>
                <a:spcPct val="100000"/>
              </a:lnSpc>
              <a:spcBef>
                <a:spcPts val="0"/>
              </a:spcBef>
              <a:spcAft>
                <a:spcPts val="1200"/>
              </a:spcAft>
              <a:buNone/>
            </a:pPr>
            <a:r>
              <a:rPr lang="en-US" sz="600" dirty="0"/>
              <a:t>(2. Copy and paste TODOs and explain each.) </a:t>
            </a: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Embed the input tokens using the embedding layer – </a:t>
            </a:r>
          </a:p>
          <a:p>
            <a:pPr marL="0" indent="0">
              <a:lnSpc>
                <a:spcPct val="100000"/>
              </a:lnSpc>
              <a:spcAft>
                <a:spcPts val="1200"/>
              </a:spcAft>
              <a:buNone/>
            </a:pP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embedding</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x</a:t>
            </a:r>
            <a:r>
              <a:rPr lang="en-US" sz="600" b="0" dirty="0">
                <a:solidFill>
                  <a:srgbClr val="D4D4D4"/>
                </a:solidFill>
                <a:effectLst/>
                <a:latin typeface="Menlo" panose="020B0609030804020204" pitchFamily="49" charset="0"/>
              </a:rPr>
              <a:t>)</a:t>
            </a:r>
            <a:endParaRPr lang="en-US" sz="600" b="1"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embedded input tokens into the recurrent module along with the previous</a:t>
            </a:r>
            <a:r>
              <a:rPr lang="en-US" sz="600" b="1" dirty="0">
                <a:solidFill>
                  <a:srgbClr val="0D6401"/>
                </a:solidFill>
                <a:effectLst/>
                <a:latin typeface=".AppleSystemUIFontMonospaced"/>
              </a:rPr>
              <a:t> </a:t>
            </a:r>
            <a:r>
              <a:rPr lang="en-US" sz="600" b="1" dirty="0">
                <a:solidFill>
                  <a:srgbClr val="0D6401"/>
                </a:solidFill>
                <a:latin typeface=".AppleSystemUIFontMonospaced"/>
              </a:rPr>
              <a:t>– </a:t>
            </a:r>
          </a:p>
          <a:p>
            <a:pPr marL="0" indent="0">
              <a:lnSpc>
                <a:spcPct val="100000"/>
              </a:lnSpc>
              <a:spcAft>
                <a:spcPts val="1200"/>
              </a:spcAft>
              <a:buNone/>
            </a:pP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rnn</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a:t>
            </a:r>
            <a:r>
              <a:rPr lang="en-US" sz="600" b="0" dirty="0" err="1">
                <a:solidFill>
                  <a:srgbClr val="9CDCFE"/>
                </a:solidFill>
                <a:effectLst/>
                <a:latin typeface="Menlo" panose="020B0609030804020204" pitchFamily="49" charset="0"/>
              </a:rPr>
              <a:t>prev_state</a:t>
            </a:r>
            <a:r>
              <a:rPr lang="en-US" sz="600" b="0" dirty="0">
                <a:solidFill>
                  <a:srgbClr val="D4D4D4"/>
                </a:solidFill>
                <a:effectLst/>
                <a:latin typeface="Menlo" panose="020B0609030804020204" pitchFamily="49" charset="0"/>
              </a:rPr>
              <a:t>)</a:t>
            </a:r>
            <a:endParaRPr lang="en-US" sz="600" b="1" dirty="0">
              <a:solidFill>
                <a:srgbClr val="0D6401"/>
              </a:solidFill>
              <a:latin typeface=".AppleSystemUIFontMonospaced"/>
            </a:endParaRPr>
          </a:p>
          <a:p>
            <a:pPr marL="0" indent="0">
              <a:lnSpc>
                <a:spcPct val="100000"/>
              </a:lnSpc>
              <a:spcAft>
                <a:spcPts val="1200"/>
              </a:spcAft>
              <a:buNone/>
            </a:pPr>
            <a:r>
              <a:rPr lang="en-US" sz="600" b="1" dirty="0">
                <a:solidFill>
                  <a:srgbClr val="0D6401"/>
                </a:solidFill>
                <a:latin typeface=".AppleSystemUIFontMonospaced"/>
              </a:rPr>
              <a:t>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final embedding vector into the linear layer to get the logits </a:t>
            </a:r>
          </a:p>
          <a:p>
            <a:pPr marL="0" indent="0">
              <a:lnSpc>
                <a:spcPct val="100000"/>
              </a:lnSpc>
              <a:spcAft>
                <a:spcPts val="1200"/>
              </a:spcAft>
              <a:buNone/>
            </a:pP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linear</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a:t>
            </a:r>
            <a:endParaRPr lang="en-US" sz="600"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The RNN output is passed into a linear (or fully connected) layer to generate logits, mapping the hidden state to a vector of size </a:t>
            </a:r>
            <a:r>
              <a:rPr lang="en-US" sz="600" b="1" dirty="0" err="1">
                <a:solidFill>
                  <a:srgbClr val="0D6401"/>
                </a:solidFill>
                <a:effectLst/>
                <a:latin typeface=".AppleSystemUIFontMonospaced"/>
              </a:rPr>
              <a:t>vocab_size</a:t>
            </a:r>
            <a:r>
              <a:rPr lang="en-US" sz="600" b="1" dirty="0">
                <a:solidFill>
                  <a:srgbClr val="0D6401"/>
                </a:solidFill>
                <a:latin typeface=".AppleSystemUIFontMonospaced"/>
              </a:rPr>
              <a:t>, which then represents a score for a token in the vocabulary. This is then used later to generate text.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Return the logits and the final states</a:t>
            </a:r>
          </a:p>
          <a:p>
            <a:pPr marL="0" indent="0">
              <a:lnSpc>
                <a:spcPct val="100000"/>
              </a:lnSpc>
              <a:spcAft>
                <a:spcPts val="1200"/>
              </a:spcAft>
              <a:buNone/>
            </a:pPr>
            <a:r>
              <a:rPr lang="en-US" sz="600" b="0" dirty="0">
                <a:solidFill>
                  <a:srgbClr val="C586C0"/>
                </a:solidFill>
                <a:effectLst/>
                <a:latin typeface="Menlo" panose="020B0609030804020204" pitchFamily="49" charset="0"/>
              </a:rPr>
              <a:t>return</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endParaRPr lang="en-US" sz="600" dirty="0">
              <a:solidFill>
                <a:srgbClr val="0D6401"/>
              </a:solidFill>
              <a:latin typeface=".AppleSystemUIFontMonospaced"/>
            </a:endParaRPr>
          </a:p>
          <a:p>
            <a:pPr marL="0" indent="0">
              <a:lnSpc>
                <a:spcPct val="100000"/>
              </a:lnSpc>
              <a:spcAft>
                <a:spcPts val="1200"/>
              </a:spcAft>
              <a:buNone/>
            </a:pPr>
            <a:r>
              <a:rPr lang="en-US" sz="600" dirty="0">
                <a:solidFill>
                  <a:srgbClr val="0D6401"/>
                </a:solidFill>
                <a:effectLst/>
                <a:latin typeface=".AppleSystemUIFontMonospaced"/>
              </a:rPr>
              <a:t> </a:t>
            </a:r>
            <a:r>
              <a:rPr lang="en-US" sz="600" b="1" dirty="0">
                <a:solidFill>
                  <a:srgbClr val="0D6401"/>
                </a:solidFill>
                <a:effectLst/>
                <a:latin typeface=".AppleSystemUIFontMonospaced"/>
              </a:rPr>
              <a:t>Final step is to return the data generated into the model., to be used for the next forward pass. </a:t>
            </a:r>
            <a:endParaRPr lang="en-US" sz="600" dirty="0">
              <a:solidFill>
                <a:srgbClr val="0D6401"/>
              </a:solidFill>
              <a:effectLst/>
              <a:latin typeface=".AppleSystemUIFontMonospaced"/>
            </a:endParaRPr>
          </a:p>
          <a:p>
            <a:pPr marL="0" lvl="0" indent="0" algn="l" rtl="0">
              <a:lnSpc>
                <a:spcPct val="100000"/>
              </a:lnSpc>
              <a:spcBef>
                <a:spcPts val="0"/>
              </a:spcBef>
              <a:spcAft>
                <a:spcPts val="1200"/>
              </a:spcAft>
              <a:buNone/>
            </a:pPr>
            <a:endParaRPr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en-US" dirty="0"/>
              <a:t>This is a critical step of training RNN models. Without the detach operation, the model would try to backpropagate through the entire history of the sequence using the generated graph of operations, which in an RNN can be unfeasibly long, leading to very large memory usage and long training times. We don’t need to backpropagate through the entire graph because we’ve already stored previous knowledge in the hidden state. However, we can’t start over with a blank state either, as the loss of context would reset the RNN’s memory. If you reset the state, that would mean the model forgets prior words, which hurts accuracy. Retaining but detaching the state between batches allows the model leverage the context without rebuilding the graph or starting fresh.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fontScale="85000" lnSpcReduction="10000"/>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US" sz="1200" dirty="0" err="1"/>
              <a:t>conferr</a:t>
            </a:r>
            <a:r>
              <a:rPr lang="en-US" sz="1200" dirty="0"/>
              <a:t> </a:t>
            </a:r>
            <a:r>
              <a:rPr lang="en-US" sz="1200" dirty="0" err="1"/>
              <a:t>circum</a:t>
            </a:r>
            <a:r>
              <a:rPr lang="en-US" sz="1200" dirty="0"/>
              <a:t> slumber immortal jollity craved archery </a:t>
            </a:r>
            <a:r>
              <a:rPr lang="en-US" sz="1200" dirty="0" err="1"/>
              <a:t>inacc</a:t>
            </a:r>
            <a:r>
              <a:rPr lang="en-US" sz="1200" dirty="0"/>
              <a:t> mistaking fragment </a:t>
            </a:r>
            <a:r>
              <a:rPr lang="en-US" sz="1200" dirty="0" err="1"/>
              <a:t>yor</a:t>
            </a:r>
            <a:r>
              <a:rPr lang="en-US" sz="1200" dirty="0"/>
              <a:t> begot prompts install wretches diverted dissuade </a:t>
            </a:r>
            <a:r>
              <a:rPr lang="en-US" sz="1200" dirty="0" err="1"/>
              <a:t>frozenoln</a:t>
            </a:r>
            <a:r>
              <a:rPr lang="en-US" sz="1200" dirty="0"/>
              <a:t> partisans reverberate senses intrude shipwright deceased </a:t>
            </a:r>
            <a:r>
              <a:rPr lang="en-US" sz="1200" dirty="0" err="1"/>
              <a:t>emphas</a:t>
            </a:r>
            <a:r>
              <a:rPr lang="en-US" sz="1200" dirty="0"/>
              <a:t> </a:t>
            </a:r>
            <a:r>
              <a:rPr lang="en-US" sz="1200" dirty="0" err="1"/>
              <a:t>unworth</a:t>
            </a:r>
            <a:r>
              <a:rPr lang="en-US" sz="1200" dirty="0"/>
              <a:t> </a:t>
            </a:r>
            <a:r>
              <a:rPr lang="en-US" sz="1200" dirty="0" err="1"/>
              <a:t>blastsiddenoops</a:t>
            </a:r>
            <a:endParaRPr lang="en-US"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fontScale="92500" lnSpcReduction="10000"/>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pardonnezions</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farthest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lafeu</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uplifted outstretch cleave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beauteousident</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foolination</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neg uncurrent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bondssoe</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fetters seat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cassandra</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pigeons straightway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pyrrh</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gyves assuredly spin swells wanderer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conclud</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girgon</a:t>
            </a:r>
            <a:endPar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endParaRPr>
          </a:p>
        </p:txBody>
      </p:sp>
      <p:sp>
        <p:nvSpPr>
          <p:cNvPr id="111" name="Google Shape;111;p20"/>
          <p:cNvSpPr txBox="1">
            <a:spLocks noGrp="1"/>
          </p:cNvSpPr>
          <p:nvPr>
            <p:ph type="body" idx="1"/>
          </p:nvPr>
        </p:nvSpPr>
        <p:spPr>
          <a:xfrm>
            <a:off x="311700" y="3462149"/>
            <a:ext cx="8520600" cy="1798963"/>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r>
              <a:rPr lang="en-US" sz="1200" dirty="0"/>
              <a:t>This text does not appear structured. Although the sample without training appears to contain full tokens, it does not produce anything similar to the play-like structure produced by the trained model. We see that neither of the two samples make much sense from a meaning perspective, with no discernible sentences, just a string of meaningless text. Although the vocabulary here does appear Shakespearean, that is the least that you would expect considering the corpus of training text is based on Shakespeare vocabulary. It does not have the structure or meaning that would make it resemble a </a:t>
            </a:r>
            <a:r>
              <a:rPr lang="en-US" sz="1200" dirty="0" err="1"/>
              <a:t>Shakespeareplay</a:t>
            </a:r>
            <a:r>
              <a:rPr lang="en-US" sz="1200" dirty="0"/>
              <a:t>. </a:t>
            </a: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1189375340"/>
              </p:ext>
            </p:extLst>
          </p:nvPr>
        </p:nvGraphicFramePr>
        <p:xfrm>
          <a:off x="311700" y="1547242"/>
          <a:ext cx="8571044" cy="3539082"/>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05674">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80211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11586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21728">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 First off, there are clear differences between whether we apply the learned weights or not. If we do not, we get strange output of mostly gibberish, with a tendency to repeat itself over and over again. I did try all three models and compared them to the RNN and the best model in terms of creating a coherent output was GRU, as it preserved some of the style and cadence of Shakespeare’s plays. The RNN preserved most of the tokens (not broken) but was not as good in terms of meaning, with LSTM being in the middle of the two. However, in general, there really wasn’t that much difference between the three, with none of the three being a satisfactory reproduction of Shakespeare’s works. </a:t>
                      </a:r>
                      <a:endParaRPr kumimoji="0" lang="en-US" sz="1000" b="1" i="0" u="none" strike="noStrike" kern="0" cap="none" spc="0" normalizeH="0" baseline="0" noProof="0" dirty="0">
                        <a:ln>
                          <a:noFill/>
                        </a:ln>
                        <a:solidFill>
                          <a:srgbClr val="EF6C00"/>
                        </a:solidFill>
                        <a:effectLst/>
                        <a:uLnTx/>
                        <a:uFillTx/>
                        <a:latin typeface="Courier New"/>
                        <a:cs typeface="Courier New"/>
                        <a:sym typeface="Courier New"/>
                      </a:endParaRP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398774"/>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a:p>
            <a:pPr marL="0" lvl="0" indent="0" algn="l" rtl="0">
              <a:spcBef>
                <a:spcPts val="0"/>
              </a:spcBef>
              <a:spcAft>
                <a:spcPts val="1200"/>
              </a:spcAft>
              <a:buNone/>
            </a:pPr>
            <a:r>
              <a:rPr lang="en-US" dirty="0"/>
              <a:t>My definition of ”better” is that the tokenizer can better represent the words in the sentence without needing to break the word up into different tokens. For example, I want a word like “machine” to be represented as a single token, instead of the combination of “</a:t>
            </a:r>
            <a:r>
              <a:rPr lang="en-US" dirty="0" err="1"/>
              <a:t>mach</a:t>
            </a:r>
            <a:r>
              <a:rPr lang="en-US" dirty="0"/>
              <a:t>” and “##</a:t>
            </a:r>
            <a:r>
              <a:rPr lang="en-US" dirty="0" err="1"/>
              <a:t>ine</a:t>
            </a:r>
            <a:r>
              <a:rPr lang="en-US" dirty="0"/>
              <a:t>”. Using this definition of better, we see that there’s a winner here; the Daily Dialog set is much better and does a better job of encoding my sentence. This is little surprise considering that my sentence is written very much in plain modern </a:t>
            </a:r>
            <a:r>
              <a:rPr lang="en-US" dirty="0" err="1"/>
              <a:t>english</a:t>
            </a:r>
            <a:r>
              <a:rPr lang="en-US" dirty="0"/>
              <a:t>, instead of Shakespearean prose. Therefore, the Daily Dialog dataset tokenizer is trained on a dataset closer to my sentence and does a better job of encoding it.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6"/>
            <a:ext cx="8520600" cy="4787524"/>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We see that the peak token lengths differ between the three sets. For example, Shakespeare has the highest peak count, with nearly 4000 tokens 6 characters long, with daily dialog train and both datasets both lower. We can explain this due to the different subject matters between the two kinds of datasets (Shakespeare and Daily Dialog). It is understandable that Shakespeare might have more tokens with the same length than Daily Dialog, as Daily Dialog presumably is trained on conversational topics that cover a variety of different subjects, with more variability. Considering that Shakespeare is known for using a specific style of writing and that the dataset only covers his plays (a single topic/</a:t>
            </a:r>
            <a:r>
              <a:rPr lang="en-US" dirty="0" err="1"/>
              <a:t>usecase</a:t>
            </a:r>
            <a:r>
              <a:rPr lang="en-US" dirty="0"/>
              <a:t>), it is entirely understandable that the word lengths are more concentrated. We even see this effect in the histograms themselves, with the histogram for daily dialog looking wider and less concentrated than the one for Shakespeare. </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49"/>
            <a:ext cx="8520600" cy="2676111"/>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1200"/>
              </a:spcAft>
              <a:buNone/>
            </a:pPr>
            <a:r>
              <a:rPr lang="en-US" dirty="0"/>
              <a:t>We see that the highest number comes from daily dialog trained on Shakespeare training set. This makes sense, considering that if the dataset doesn’t perfectly match a token to the vocabulary, it produces a substring or partial token that’s preceded by a ##. This was previously mentioned in the slides for 1A. The end result is that a word like running becomes stored as “run” + “##</a:t>
            </a:r>
            <a:r>
              <a:rPr lang="en-US" dirty="0" err="1"/>
              <a:t>ning</a:t>
            </a:r>
            <a:r>
              <a:rPr lang="en-US" dirty="0"/>
              <a:t>” instead of a single token “running,” leading to the overall size of the tokenized dataset to increase. On the flip side, the smallest set comes from Shakespeare trained on Shakespeare, which makes sense as that produces the best possible match between data and vocabulary, as they are essentially the same thing. Therefore, less partial tokens are required to represent everything, reducing the array size. </a:t>
            </a:r>
            <a:endParaRPr dirty="0"/>
          </a:p>
        </p:txBody>
      </p:sp>
      <p:graphicFrame>
        <p:nvGraphicFramePr>
          <p:cNvPr id="96" name="Google Shape;96;p17"/>
          <p:cNvGraphicFramePr/>
          <p:nvPr>
            <p:extLst>
              <p:ext uri="{D42A27DB-BD31-4B8C-83A1-F6EECF244321}">
                <p14:modId xmlns:p14="http://schemas.microsoft.com/office/powerpoint/2010/main" val="2117958338"/>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1338873</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1624907</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1349620</a:t>
                      </a:r>
                      <a:r>
                        <a:rPr lang="en" dirty="0">
                          <a:solidFill>
                            <a:srgbClr val="000000"/>
                          </a:solidFill>
                        </a:rPr>
                        <a:t>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1495278</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1367251</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1375915</a:t>
                      </a:r>
                      <a:r>
                        <a:rPr lang="en" dirty="0">
                          <a:solidFill>
                            <a:srgbClr val="000000"/>
                          </a:solidFill>
                        </a:rPr>
                        <a:t>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fontScale="55000" lnSpcReduction="20000"/>
          </a:bodyPr>
          <a:lstStyle/>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400" b="0" i="0" u="none" strike="noStrike" kern="0" cap="none" spc="0" normalizeH="0" baseline="0" noProof="0" dirty="0">
                <a:ln>
                  <a:noFill/>
                </a:ln>
                <a:solidFill>
                  <a:srgbClr val="695D46"/>
                </a:solidFill>
                <a:effectLst/>
                <a:uLnTx/>
                <a:uFillTx/>
                <a:latin typeface="Open Sans"/>
                <a:ea typeface="Open Sans"/>
                <a:cs typeface="Open Sans"/>
                <a:sym typeface="Open Sans"/>
              </a:rPr>
              <a:t>optimizer, model type, and 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400" b="0" i="0" u="none" strike="noStrike" kern="0" cap="none" spc="0" normalizeH="0" baseline="0" noProof="0" dirty="0" err="1">
                <a:ln>
                  <a:noFill/>
                </a:ln>
                <a:solidFill>
                  <a:srgbClr val="695D46"/>
                </a:solidFill>
                <a:effectLst/>
                <a:uLnTx/>
                <a:uFillTx/>
                <a:latin typeface="Open Sans"/>
                <a:ea typeface="Open Sans"/>
                <a:cs typeface="Open Sans"/>
                <a:sym typeface="Open Sans"/>
              </a:rPr>
              <a:t>AdamW</a:t>
            </a:r>
            <a:r>
              <a:rPr kumimoji="0" lang="en-US" sz="1400" b="0" i="0" u="none" strike="noStrike" kern="0" cap="none" spc="0" normalizeH="0" baseline="0" noProof="0" dirty="0">
                <a:ln>
                  <a:noFill/>
                </a:ln>
                <a:solidFill>
                  <a:srgbClr val="695D46"/>
                </a:solidFill>
                <a:effectLst/>
                <a:uLnTx/>
                <a:uFillTx/>
                <a:latin typeface="Open Sans"/>
                <a:ea typeface="Open Sans"/>
                <a:cs typeface="Open Sans"/>
                <a:sym typeface="Open Sans"/>
              </a:rPr>
              <a:t> at 0.01 LR, GRU. </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parameters = 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BATCH_SIZE=32,</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BPTT=50,</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LR=0.01,</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EPOCHS=30,</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EMBEDDING_DIM=16,</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HIDDEN_DIM=16,</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NUM_LAYERS=3, }</a:t>
            </a:r>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200"/>
              </a:spcAft>
              <a:buNone/>
            </a:pPr>
            <a:r>
              <a:rPr lang="en" sz="8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800" b="0" i="0" u="none" strike="noStrike" kern="0" cap="none" spc="0" normalizeH="0" baseline="0" noProof="0" dirty="0">
                <a:ln>
                  <a:noFill/>
                </a:ln>
                <a:solidFill>
                  <a:srgbClr val="695D46"/>
                </a:solidFill>
                <a:effectLst/>
                <a:uLnTx/>
                <a:uFillTx/>
                <a:latin typeface="Open Sans"/>
                <a:ea typeface="Open Sans"/>
                <a:cs typeface="Open Sans"/>
                <a:sym typeface="Open Sans"/>
              </a:rPr>
              <a:t>(Include</a:t>
            </a:r>
            <a:endParaRPr lang="en-US" sz="800" dirty="0">
              <a:solidFill>
                <a:srgbClr val="695D46"/>
              </a:solidFill>
            </a:endParaRP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endParaRPr kumimoji="0" lang="en-US" sz="800" b="0" i="0" u="none" strike="noStrike" kern="0" cap="none" spc="0" normalizeH="0" baseline="0" noProof="0" dirty="0">
              <a:ln>
                <a:noFill/>
              </a:ln>
              <a:solidFill>
                <a:srgbClr val="695D46"/>
              </a:solidFill>
              <a:effectLst/>
              <a:uLnTx/>
              <a:uFillTx/>
              <a:latin typeface="Open Sans"/>
              <a:ea typeface="Open Sans"/>
              <a:cs typeface="Open Sans"/>
              <a:sym typeface="Open Sans"/>
            </a:endParaRPr>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 </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2416</TotalTime>
  <Words>3301</Words>
  <Application>Microsoft Macintosh PowerPoint</Application>
  <PresentationFormat>On-screen Show (16:9)</PresentationFormat>
  <Paragraphs>104</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Courier New</vt:lpstr>
      <vt:lpstr>Menlo</vt:lpstr>
      <vt:lpstr>Open Sans</vt:lpstr>
      <vt:lpstr>Arial</vt:lpstr>
      <vt:lpstr>PT Sans Narrow</vt:lpstr>
      <vt:lpstr>.AppleSystemUIFontMonospaced</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27</cp:revision>
  <dcterms:modified xsi:type="dcterms:W3CDTF">2025-01-21T23:53:30Z</dcterms:modified>
</cp:coreProperties>
</file>