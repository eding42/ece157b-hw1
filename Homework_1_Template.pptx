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60" r:id="rId5"/>
    <p:sldId id="261" r:id="rId6"/>
    <p:sldId id="263" r:id="rId7"/>
    <p:sldId id="264" r:id="rId8"/>
    <p:sldId id="265" r:id="rId9"/>
    <p:sldId id="266" r:id="rId10"/>
    <p:sldId id="267" r:id="rId11"/>
    <p:sldId id="268" r:id="rId12"/>
    <p:sldId id="262" r:id="rId13"/>
    <p:sldId id="270" r:id="rId14"/>
    <p:sldId id="272" r:id="rId15"/>
  </p:sldIdLst>
  <p:sldSz cx="9144000" cy="5143500" type="screen16x9"/>
  <p:notesSz cx="6858000" cy="9144000"/>
  <p:embeddedFontLst>
    <p:embeddedFont>
      <p:font typeface="Open Sans" panose="020B0606030504020204" pitchFamily="34" charset="0"/>
      <p:regular r:id="rId17"/>
      <p:bold r:id="rId18"/>
      <p:italic r:id="rId19"/>
      <p:boldItalic r:id="rId20"/>
    </p:embeddedFont>
    <p:embeddedFont>
      <p:font typeface="PT Sans Narrow" panose="020B0506020203020204" pitchFamily="34" charset="77"/>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44"/>
    <p:restoredTop sz="94693"/>
  </p:normalViewPr>
  <p:slideViewPr>
    <p:cSldViewPr snapToGrid="0">
      <p:cViewPr>
        <p:scale>
          <a:sx n="97" d="100"/>
          <a:sy n="97" d="100"/>
        </p:scale>
        <p:origin x="-72" y="11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b1ceb20a80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b1ceb20a80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b1ceb20a80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b1ceb20a80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b1ceb20a80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b1ceb20a80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b1ceb20a80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b1ceb20a80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b1ceb20a80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b1ceb20a80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b1ceb20a80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b1ceb20a80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b48426d89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b48426d89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b1ceb20a80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b1ceb20a80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b1ceb20a80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b1ceb20a80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b1ceb20a80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b1ceb20a80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b1ceb20a80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b1ceb20a80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b48426d89b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b48426d89b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dirty="0"/>
              <a:t>ECE 157B/272B </a:t>
            </a:r>
            <a:br>
              <a:rPr lang="en" dirty="0"/>
            </a:br>
            <a:r>
              <a:rPr lang="en" dirty="0"/>
              <a:t>Homework 1 Part A</a:t>
            </a:r>
            <a:endParaRPr dirty="0"/>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Submitted By Edward Ding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60649"/>
            <a:ext cx="8520600" cy="118375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t>1. Experiment with at least one value of the VOCAB_SIZE parameter other than the default 20,000. How does changing this value affect how much text is returned by the example batch decoding under </a:t>
            </a:r>
            <a:r>
              <a:rPr lang="en" sz="2200" i="1" dirty="0"/>
              <a:t>Generate input and target sequence</a:t>
            </a:r>
            <a:r>
              <a:rPr lang="en" sz="2200" dirty="0"/>
              <a:t>?</a:t>
            </a:r>
            <a:endParaRPr sz="2200" dirty="0"/>
          </a:p>
        </p:txBody>
      </p:sp>
      <p:sp>
        <p:nvSpPr>
          <p:cNvPr id="73" name="Google Shape;73;p14"/>
          <p:cNvSpPr txBox="1">
            <a:spLocks noGrp="1"/>
          </p:cNvSpPr>
          <p:nvPr>
            <p:ph type="body" idx="1"/>
          </p:nvPr>
        </p:nvSpPr>
        <p:spPr>
          <a:xfrm>
            <a:off x="311700" y="1244408"/>
            <a:ext cx="8520600" cy="3324542"/>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a:t>I changed the vocab size parameter to 1000. This actually decreased the amount of text that is returned by the </a:t>
            </a:r>
            <a:r>
              <a:rPr lang="en-US" dirty="0" err="1"/>
              <a:t>print_example_batch</a:t>
            </a:r>
            <a:r>
              <a:rPr lang="en-US" dirty="0"/>
              <a:t>() function, in all three of the segments printed; data[0], data[1] and the example targets decoded segment. However, after changing the vocab size parameter to 100000, there is no appreciable difference in how much text is decoded, in any of the parameters. Additionally, there was a decrease in quality as well, with the 1000 vocab size trial resulting in more broken sentences and poor quality formatting.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60015"/>
            <a:ext cx="8520600" cy="144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200" dirty="0"/>
              <a:t>2. Our example code uses the </a:t>
            </a:r>
            <a:r>
              <a:rPr lang="en" sz="2200" dirty="0" err="1"/>
              <a:t>WordPiece</a:t>
            </a:r>
            <a:r>
              <a:rPr lang="en" sz="2200" dirty="0"/>
              <a:t> tokenizer to break up the text into numbered tokens for the model to learn. If you print the tokenizer vocabulary with </a:t>
            </a:r>
            <a:r>
              <a:rPr lang="en" sz="2200" dirty="0" err="1">
                <a:latin typeface="Courier New"/>
                <a:ea typeface="Courier New"/>
                <a:cs typeface="Courier New"/>
                <a:sym typeface="Courier New"/>
              </a:rPr>
              <a:t>tokenizer.get_vocab</a:t>
            </a:r>
            <a:r>
              <a:rPr lang="en" sz="2200" dirty="0">
                <a:latin typeface="Courier New"/>
                <a:ea typeface="Courier New"/>
                <a:cs typeface="Courier New"/>
                <a:sym typeface="Courier New"/>
              </a:rPr>
              <a:t>()</a:t>
            </a:r>
            <a:r>
              <a:rPr lang="en" sz="2200" dirty="0"/>
              <a:t> you will find that some tokens start with a “##”. What does this represent to </a:t>
            </a:r>
            <a:r>
              <a:rPr lang="en" sz="2200" dirty="0" err="1"/>
              <a:t>WordPiece</a:t>
            </a:r>
            <a:r>
              <a:rPr lang="en" sz="2200" dirty="0"/>
              <a:t> during text encoding and decoding?</a:t>
            </a:r>
            <a:endParaRPr sz="2200" dirty="0"/>
          </a:p>
        </p:txBody>
      </p:sp>
      <p:sp>
        <p:nvSpPr>
          <p:cNvPr id="79" name="Google Shape;79;p15"/>
          <p:cNvSpPr txBox="1">
            <a:spLocks noGrp="1"/>
          </p:cNvSpPr>
          <p:nvPr>
            <p:ph type="body" idx="1"/>
          </p:nvPr>
        </p:nvSpPr>
        <p:spPr>
          <a:xfrm>
            <a:off x="311700" y="1567542"/>
            <a:ext cx="8520600" cy="3399873"/>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None/>
            </a:pPr>
            <a:r>
              <a:rPr lang="en-US" dirty="0"/>
              <a:t>The ## characters represent sub-word units that are continuations of a word. This convention is used to indicate that these tokens are not standalone words but are part of a larger word. During the encoding process, </a:t>
            </a:r>
            <a:r>
              <a:rPr lang="en-US" dirty="0" err="1"/>
              <a:t>WordPiece</a:t>
            </a:r>
            <a:r>
              <a:rPr lang="en-US" dirty="0"/>
              <a:t> splits words into </a:t>
            </a:r>
            <a:r>
              <a:rPr lang="en-US" dirty="0" err="1"/>
              <a:t>subwords</a:t>
            </a:r>
            <a:r>
              <a:rPr lang="en-US" dirty="0"/>
              <a:t> or characters based on the frequency of substrings in the training set. If a word cannot be represented by a single token in the vocabulary, it is broken into smaller </a:t>
            </a:r>
            <a:r>
              <a:rPr lang="en-US" dirty="0" err="1"/>
              <a:t>subwords</a:t>
            </a:r>
            <a:r>
              <a:rPr lang="en-US" dirty="0"/>
              <a:t>. Any subsequent </a:t>
            </a:r>
            <a:r>
              <a:rPr lang="en-US" dirty="0" err="1"/>
              <a:t>subword</a:t>
            </a:r>
            <a:r>
              <a:rPr lang="en-US" dirty="0"/>
              <a:t> parts are prefixed with ## to indicate that they are continuations of the previous token. For example, ”running” could be represented as [“run”,”##</a:t>
            </a:r>
            <a:r>
              <a:rPr lang="en-US" dirty="0" err="1"/>
              <a:t>ning</a:t>
            </a:r>
            <a:r>
              <a:rPr lang="en-US" dirty="0"/>
              <a:t>”]. Tokens that contain the ## string are treated as part of the previous token and concatenated directly.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311700" y="80641"/>
            <a:ext cx="8520600" cy="141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t>3. What does the </a:t>
            </a:r>
            <a:r>
              <a:rPr lang="en" sz="2200" dirty="0">
                <a:latin typeface="Courier New"/>
                <a:ea typeface="Courier New"/>
                <a:cs typeface="Courier New"/>
                <a:sym typeface="Courier New"/>
              </a:rPr>
              <a:t>forward</a:t>
            </a:r>
            <a:r>
              <a:rPr lang="en" sz="2200" dirty="0"/>
              <a:t> method of our recurrent model object do? Implement this function. (You need only go into the level of detail as shown in the provided code -- you do not have to look up the functionalities of the underlying </a:t>
            </a:r>
            <a:r>
              <a:rPr lang="en" sz="2200" dirty="0" err="1"/>
              <a:t>PyTorch</a:t>
            </a:r>
            <a:r>
              <a:rPr lang="en" sz="2200" dirty="0"/>
              <a:t> sub-modules. Do describe in brief what purpose each is accomplishing.)</a:t>
            </a:r>
            <a:endParaRPr sz="2200" dirty="0"/>
          </a:p>
        </p:txBody>
      </p:sp>
      <p:sp>
        <p:nvSpPr>
          <p:cNvPr id="91" name="Google Shape;91;p17"/>
          <p:cNvSpPr txBox="1">
            <a:spLocks noGrp="1"/>
          </p:cNvSpPr>
          <p:nvPr>
            <p:ph type="body" idx="1"/>
          </p:nvPr>
        </p:nvSpPr>
        <p:spPr>
          <a:xfrm>
            <a:off x="311700" y="1496642"/>
            <a:ext cx="8520600" cy="3566218"/>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US" sz="600" dirty="0"/>
              <a:t>(1. Explain </a:t>
            </a:r>
            <a:r>
              <a:rPr lang="en-US" sz="600" i="1" dirty="0"/>
              <a:t>forward</a:t>
            </a:r>
            <a:r>
              <a:rPr lang="en-US" sz="600" dirty="0"/>
              <a:t> method.): In </a:t>
            </a:r>
            <a:r>
              <a:rPr lang="en-US" sz="600" dirty="0" err="1"/>
              <a:t>PyTorch</a:t>
            </a:r>
            <a:r>
              <a:rPr lang="en-US" sz="600" dirty="0"/>
              <a:t>, the forward function defines the computations that a model performs when it makes an initial forward pass through the data when training. It processes input data step by step, propagates the learnings through the network layers, and then produces an output, such as logits for the next token prediction, and updates the hidden state in the case of the RNN. </a:t>
            </a:r>
          </a:p>
          <a:p>
            <a:pPr marL="0" lvl="0" indent="0" algn="l" rtl="0">
              <a:lnSpc>
                <a:spcPct val="100000"/>
              </a:lnSpc>
              <a:spcBef>
                <a:spcPts val="0"/>
              </a:spcBef>
              <a:spcAft>
                <a:spcPts val="1200"/>
              </a:spcAft>
              <a:buNone/>
            </a:pPr>
            <a:r>
              <a:rPr lang="en-US" sz="600" dirty="0"/>
              <a:t>(2. Copy and paste TODOs and explain each.) </a:t>
            </a:r>
          </a:p>
          <a:p>
            <a:pPr marL="0" indent="0">
              <a:lnSpc>
                <a:spcPct val="100000"/>
              </a:lnSpc>
              <a:spcAft>
                <a:spcPts val="1200"/>
              </a:spcAft>
              <a:buNone/>
            </a:pPr>
            <a:r>
              <a:rPr lang="en-US" sz="600" dirty="0">
                <a:solidFill>
                  <a:srgbClr val="000000"/>
                </a:solidFill>
                <a:effectLst/>
                <a:latin typeface=".AppleSystemUIFontMonospaced"/>
              </a:rPr>
              <a:t>    </a:t>
            </a:r>
            <a:r>
              <a:rPr lang="en-US" sz="600" dirty="0">
                <a:solidFill>
                  <a:srgbClr val="0D6401"/>
                </a:solidFill>
                <a:effectLst/>
                <a:latin typeface=".AppleSystemUIFontMonospaced"/>
              </a:rPr>
              <a:t># Embed the input tokens using the embedding layer – </a:t>
            </a:r>
          </a:p>
          <a:p>
            <a:pPr marL="0" indent="0">
              <a:lnSpc>
                <a:spcPct val="100000"/>
              </a:lnSpc>
              <a:spcAft>
                <a:spcPts val="1200"/>
              </a:spcAft>
              <a:buNone/>
            </a:pPr>
            <a:r>
              <a:rPr lang="en-US" sz="600" b="0" dirty="0">
                <a:solidFill>
                  <a:srgbClr val="9CDCFE"/>
                </a:solidFill>
                <a:effectLst/>
                <a:latin typeface="Menlo" panose="020B0609030804020204" pitchFamily="49" charset="0"/>
              </a:rPr>
              <a:t>embedded</a:t>
            </a:r>
            <a:r>
              <a:rPr lang="en-US" sz="600" b="0" dirty="0">
                <a:solidFill>
                  <a:srgbClr val="D4D4D4"/>
                </a:solidFill>
                <a:effectLst/>
                <a:latin typeface="Menlo" panose="020B0609030804020204" pitchFamily="49" charset="0"/>
              </a:rPr>
              <a:t> = </a:t>
            </a:r>
            <a:r>
              <a:rPr lang="en-US" sz="600" b="0" dirty="0" err="1">
                <a:solidFill>
                  <a:srgbClr val="9CDCFE"/>
                </a:solidFill>
                <a:effectLst/>
                <a:latin typeface="Menlo" panose="020B0609030804020204" pitchFamily="49" charset="0"/>
              </a:rPr>
              <a:t>self</a:t>
            </a:r>
            <a:r>
              <a:rPr lang="en-US" sz="600" b="0" dirty="0" err="1">
                <a:solidFill>
                  <a:srgbClr val="D4D4D4"/>
                </a:solidFill>
                <a:effectLst/>
                <a:latin typeface="Menlo" panose="020B0609030804020204" pitchFamily="49" charset="0"/>
              </a:rPr>
              <a:t>.</a:t>
            </a:r>
            <a:r>
              <a:rPr lang="en-US" sz="600" b="0" dirty="0" err="1">
                <a:solidFill>
                  <a:srgbClr val="9CDCFE"/>
                </a:solidFill>
                <a:effectLst/>
                <a:latin typeface="Menlo" panose="020B0609030804020204" pitchFamily="49" charset="0"/>
              </a:rPr>
              <a:t>embedding</a:t>
            </a:r>
            <a:r>
              <a:rPr lang="en-US" sz="600" b="0" dirty="0">
                <a:solidFill>
                  <a:srgbClr val="D4D4D4"/>
                </a:solidFill>
                <a:effectLst/>
                <a:latin typeface="Menlo" panose="020B0609030804020204" pitchFamily="49" charset="0"/>
              </a:rPr>
              <a:t>(</a:t>
            </a:r>
            <a:r>
              <a:rPr lang="en-US" sz="600" b="0" dirty="0">
                <a:solidFill>
                  <a:srgbClr val="9CDCFE"/>
                </a:solidFill>
                <a:effectLst/>
                <a:latin typeface="Menlo" panose="020B0609030804020204" pitchFamily="49" charset="0"/>
              </a:rPr>
              <a:t>x</a:t>
            </a:r>
            <a:r>
              <a:rPr lang="en-US" sz="600" b="0" dirty="0">
                <a:solidFill>
                  <a:srgbClr val="D4D4D4"/>
                </a:solidFill>
                <a:effectLst/>
                <a:latin typeface="Menlo" panose="020B0609030804020204" pitchFamily="49" charset="0"/>
              </a:rPr>
              <a:t>)</a:t>
            </a:r>
            <a:endParaRPr lang="en-US" sz="600" b="1" dirty="0">
              <a:solidFill>
                <a:srgbClr val="0D6401"/>
              </a:solidFill>
              <a:effectLst/>
              <a:latin typeface=".AppleSystemUIFontMonospaced"/>
            </a:endParaRPr>
          </a:p>
          <a:p>
            <a:pPr marL="0" indent="0">
              <a:lnSpc>
                <a:spcPct val="100000"/>
              </a:lnSpc>
              <a:spcAft>
                <a:spcPts val="1200"/>
              </a:spcAft>
              <a:buNone/>
            </a:pPr>
            <a:r>
              <a:rPr lang="en-US" sz="600" b="1" dirty="0">
                <a:solidFill>
                  <a:srgbClr val="0D6401"/>
                </a:solidFill>
                <a:effectLst/>
                <a:latin typeface=".AppleSystemUIFontMonospaced"/>
              </a:rPr>
              <a:t>This line converts token IDs into dense vectors, converting each token ID into it’s corresponding embedding vector, which encodes semantic information about the token. </a:t>
            </a:r>
            <a:endParaRPr lang="en-US" sz="600" dirty="0">
              <a:solidFill>
                <a:srgbClr val="0D6401"/>
              </a:solidFill>
              <a:effectLst/>
              <a:latin typeface=".AppleSystemUIFontMonospaced"/>
            </a:endParaRPr>
          </a:p>
          <a:p>
            <a:pPr marL="0" indent="0">
              <a:lnSpc>
                <a:spcPct val="100000"/>
              </a:lnSpc>
              <a:spcAft>
                <a:spcPts val="1200"/>
              </a:spcAft>
              <a:buNone/>
            </a:pPr>
            <a:r>
              <a:rPr lang="en-US" sz="600" dirty="0">
                <a:solidFill>
                  <a:srgbClr val="000000"/>
                </a:solidFill>
                <a:effectLst/>
                <a:latin typeface=".AppleSystemUIFontMonospaced"/>
              </a:rPr>
              <a:t>    </a:t>
            </a:r>
            <a:r>
              <a:rPr lang="en-US" sz="600" dirty="0">
                <a:solidFill>
                  <a:srgbClr val="0D6401"/>
                </a:solidFill>
                <a:effectLst/>
                <a:latin typeface=".AppleSystemUIFontMonospaced"/>
              </a:rPr>
              <a:t># Pass the embedded input tokens into the recurrent module along with the previous</a:t>
            </a:r>
            <a:r>
              <a:rPr lang="en-US" sz="600" b="1" dirty="0">
                <a:solidFill>
                  <a:srgbClr val="0D6401"/>
                </a:solidFill>
                <a:effectLst/>
                <a:latin typeface=".AppleSystemUIFontMonospaced"/>
              </a:rPr>
              <a:t> </a:t>
            </a:r>
            <a:r>
              <a:rPr lang="en-US" sz="600" b="1" dirty="0">
                <a:solidFill>
                  <a:srgbClr val="0D6401"/>
                </a:solidFill>
                <a:latin typeface=".AppleSystemUIFontMonospaced"/>
              </a:rPr>
              <a:t>– </a:t>
            </a:r>
          </a:p>
          <a:p>
            <a:pPr marL="0" indent="0">
              <a:lnSpc>
                <a:spcPct val="100000"/>
              </a:lnSpc>
              <a:spcAft>
                <a:spcPts val="1200"/>
              </a:spcAft>
              <a:buNone/>
            </a:pPr>
            <a:r>
              <a:rPr lang="en-US" sz="600" b="0" dirty="0">
                <a:solidFill>
                  <a:srgbClr val="9CDCFE"/>
                </a:solidFill>
                <a:effectLst/>
                <a:latin typeface="Menlo" panose="020B0609030804020204" pitchFamily="49" charset="0"/>
              </a:rPr>
              <a:t>output</a:t>
            </a:r>
            <a:r>
              <a:rPr lang="en-US" sz="600" b="0" dirty="0">
                <a:solidFill>
                  <a:srgbClr val="D4D4D4"/>
                </a:solidFill>
                <a:effectLst/>
                <a:latin typeface="Menlo" panose="020B0609030804020204" pitchFamily="49" charset="0"/>
              </a:rPr>
              <a:t>, </a:t>
            </a:r>
            <a:r>
              <a:rPr lang="en-US" sz="600" b="0" dirty="0">
                <a:solidFill>
                  <a:srgbClr val="9CDCFE"/>
                </a:solidFill>
                <a:effectLst/>
                <a:latin typeface="Menlo" panose="020B0609030804020204" pitchFamily="49" charset="0"/>
              </a:rPr>
              <a:t>state</a:t>
            </a:r>
            <a:r>
              <a:rPr lang="en-US" sz="600" b="0" dirty="0">
                <a:solidFill>
                  <a:srgbClr val="D4D4D4"/>
                </a:solidFill>
                <a:effectLst/>
                <a:latin typeface="Menlo" panose="020B0609030804020204" pitchFamily="49" charset="0"/>
              </a:rPr>
              <a:t> = </a:t>
            </a:r>
            <a:r>
              <a:rPr lang="en-US" sz="600" b="0" dirty="0" err="1">
                <a:solidFill>
                  <a:srgbClr val="9CDCFE"/>
                </a:solidFill>
                <a:effectLst/>
                <a:latin typeface="Menlo" panose="020B0609030804020204" pitchFamily="49" charset="0"/>
              </a:rPr>
              <a:t>self</a:t>
            </a:r>
            <a:r>
              <a:rPr lang="en-US" sz="600" b="0" dirty="0" err="1">
                <a:solidFill>
                  <a:srgbClr val="D4D4D4"/>
                </a:solidFill>
                <a:effectLst/>
                <a:latin typeface="Menlo" panose="020B0609030804020204" pitchFamily="49" charset="0"/>
              </a:rPr>
              <a:t>.</a:t>
            </a:r>
            <a:r>
              <a:rPr lang="en-US" sz="600" b="0" dirty="0" err="1">
                <a:solidFill>
                  <a:srgbClr val="9CDCFE"/>
                </a:solidFill>
                <a:effectLst/>
                <a:latin typeface="Menlo" panose="020B0609030804020204" pitchFamily="49" charset="0"/>
              </a:rPr>
              <a:t>rnn</a:t>
            </a:r>
            <a:r>
              <a:rPr lang="en-US" sz="600" b="0" dirty="0">
                <a:solidFill>
                  <a:srgbClr val="D4D4D4"/>
                </a:solidFill>
                <a:effectLst/>
                <a:latin typeface="Menlo" panose="020B0609030804020204" pitchFamily="49" charset="0"/>
              </a:rPr>
              <a:t>(</a:t>
            </a:r>
            <a:r>
              <a:rPr lang="en-US" sz="600" b="0" dirty="0">
                <a:solidFill>
                  <a:srgbClr val="9CDCFE"/>
                </a:solidFill>
                <a:effectLst/>
                <a:latin typeface="Menlo" panose="020B0609030804020204" pitchFamily="49" charset="0"/>
              </a:rPr>
              <a:t>embedded</a:t>
            </a:r>
            <a:r>
              <a:rPr lang="en-US" sz="600" b="0" dirty="0">
                <a:solidFill>
                  <a:srgbClr val="D4D4D4"/>
                </a:solidFill>
                <a:effectLst/>
                <a:latin typeface="Menlo" panose="020B0609030804020204" pitchFamily="49" charset="0"/>
              </a:rPr>
              <a:t>, </a:t>
            </a:r>
            <a:r>
              <a:rPr lang="en-US" sz="600" b="0" dirty="0" err="1">
                <a:solidFill>
                  <a:srgbClr val="9CDCFE"/>
                </a:solidFill>
                <a:effectLst/>
                <a:latin typeface="Menlo" panose="020B0609030804020204" pitchFamily="49" charset="0"/>
              </a:rPr>
              <a:t>prev_state</a:t>
            </a:r>
            <a:r>
              <a:rPr lang="en-US" sz="600" b="0" dirty="0">
                <a:solidFill>
                  <a:srgbClr val="D4D4D4"/>
                </a:solidFill>
                <a:effectLst/>
                <a:latin typeface="Menlo" panose="020B0609030804020204" pitchFamily="49" charset="0"/>
              </a:rPr>
              <a:t>)</a:t>
            </a:r>
            <a:endParaRPr lang="en-US" sz="600" b="1" dirty="0">
              <a:solidFill>
                <a:srgbClr val="0D6401"/>
              </a:solidFill>
              <a:latin typeface=".AppleSystemUIFontMonospaced"/>
            </a:endParaRPr>
          </a:p>
          <a:p>
            <a:pPr marL="0" indent="0">
              <a:lnSpc>
                <a:spcPct val="100000"/>
              </a:lnSpc>
              <a:spcAft>
                <a:spcPts val="1200"/>
              </a:spcAft>
              <a:buNone/>
            </a:pPr>
            <a:r>
              <a:rPr lang="en-US" sz="600" b="1" dirty="0">
                <a:solidFill>
                  <a:srgbClr val="0D6401"/>
                </a:solidFill>
                <a:latin typeface=".AppleSystemUIFontMonospaced"/>
              </a:rPr>
              <a:t>next, the model passes the embeddings through the recurrent layer, which is defined by the model we choose, passing in the previous state too in typical RNN style. This outputs not only the output for the layer but also the state, to be used in the next round. </a:t>
            </a:r>
            <a:endParaRPr lang="en-US" sz="600" dirty="0">
              <a:solidFill>
                <a:srgbClr val="0D6401"/>
              </a:solidFill>
              <a:effectLst/>
              <a:latin typeface=".AppleSystemUIFontMonospaced"/>
            </a:endParaRPr>
          </a:p>
          <a:p>
            <a:pPr marL="0" indent="0">
              <a:lnSpc>
                <a:spcPct val="100000"/>
              </a:lnSpc>
              <a:spcAft>
                <a:spcPts val="1200"/>
              </a:spcAft>
              <a:buNone/>
            </a:pPr>
            <a:r>
              <a:rPr lang="en-US" sz="600" dirty="0">
                <a:solidFill>
                  <a:srgbClr val="000000"/>
                </a:solidFill>
                <a:effectLst/>
                <a:latin typeface=".AppleSystemUIFontMonospaced"/>
              </a:rPr>
              <a:t>    </a:t>
            </a:r>
            <a:r>
              <a:rPr lang="en-US" sz="600" dirty="0">
                <a:solidFill>
                  <a:srgbClr val="0D6401"/>
                </a:solidFill>
                <a:effectLst/>
                <a:latin typeface=".AppleSystemUIFontMonospaced"/>
              </a:rPr>
              <a:t># Pass the final embedding vector into the linear layer to get the logits </a:t>
            </a:r>
          </a:p>
          <a:p>
            <a:pPr marL="0" indent="0">
              <a:lnSpc>
                <a:spcPct val="100000"/>
              </a:lnSpc>
              <a:spcAft>
                <a:spcPts val="1200"/>
              </a:spcAft>
              <a:buNone/>
            </a:pPr>
            <a:r>
              <a:rPr lang="en-US" sz="600" b="0" dirty="0">
                <a:solidFill>
                  <a:srgbClr val="9CDCFE"/>
                </a:solidFill>
                <a:effectLst/>
                <a:latin typeface="Menlo" panose="020B0609030804020204" pitchFamily="49" charset="0"/>
              </a:rPr>
              <a:t>logits</a:t>
            </a:r>
            <a:r>
              <a:rPr lang="en-US" sz="600" b="0" dirty="0">
                <a:solidFill>
                  <a:srgbClr val="D4D4D4"/>
                </a:solidFill>
                <a:effectLst/>
                <a:latin typeface="Menlo" panose="020B0609030804020204" pitchFamily="49" charset="0"/>
              </a:rPr>
              <a:t> = </a:t>
            </a:r>
            <a:r>
              <a:rPr lang="en-US" sz="600" b="0" dirty="0" err="1">
                <a:solidFill>
                  <a:srgbClr val="9CDCFE"/>
                </a:solidFill>
                <a:effectLst/>
                <a:latin typeface="Menlo" panose="020B0609030804020204" pitchFamily="49" charset="0"/>
              </a:rPr>
              <a:t>self</a:t>
            </a:r>
            <a:r>
              <a:rPr lang="en-US" sz="600" b="0" dirty="0" err="1">
                <a:solidFill>
                  <a:srgbClr val="D4D4D4"/>
                </a:solidFill>
                <a:effectLst/>
                <a:latin typeface="Menlo" panose="020B0609030804020204" pitchFamily="49" charset="0"/>
              </a:rPr>
              <a:t>.</a:t>
            </a:r>
            <a:r>
              <a:rPr lang="en-US" sz="600" b="0" dirty="0" err="1">
                <a:solidFill>
                  <a:srgbClr val="9CDCFE"/>
                </a:solidFill>
                <a:effectLst/>
                <a:latin typeface="Menlo" panose="020B0609030804020204" pitchFamily="49" charset="0"/>
              </a:rPr>
              <a:t>linear</a:t>
            </a:r>
            <a:r>
              <a:rPr lang="en-US" sz="600" b="0" dirty="0">
                <a:solidFill>
                  <a:srgbClr val="D4D4D4"/>
                </a:solidFill>
                <a:effectLst/>
                <a:latin typeface="Menlo" panose="020B0609030804020204" pitchFamily="49" charset="0"/>
              </a:rPr>
              <a:t>(</a:t>
            </a:r>
            <a:r>
              <a:rPr lang="en-US" sz="600" b="0" dirty="0">
                <a:solidFill>
                  <a:srgbClr val="9CDCFE"/>
                </a:solidFill>
                <a:effectLst/>
                <a:latin typeface="Menlo" panose="020B0609030804020204" pitchFamily="49" charset="0"/>
              </a:rPr>
              <a:t>output</a:t>
            </a:r>
            <a:r>
              <a:rPr lang="en-US" sz="600" b="0" dirty="0">
                <a:solidFill>
                  <a:srgbClr val="D4D4D4"/>
                </a:solidFill>
                <a:effectLst/>
                <a:latin typeface="Menlo" panose="020B0609030804020204" pitchFamily="49" charset="0"/>
              </a:rPr>
              <a:t>)</a:t>
            </a:r>
            <a:endParaRPr lang="en-US" sz="600" dirty="0">
              <a:solidFill>
                <a:srgbClr val="0D6401"/>
              </a:solidFill>
              <a:effectLst/>
              <a:latin typeface=".AppleSystemUIFontMonospaced"/>
            </a:endParaRPr>
          </a:p>
          <a:p>
            <a:pPr marL="0" indent="0">
              <a:lnSpc>
                <a:spcPct val="100000"/>
              </a:lnSpc>
              <a:spcAft>
                <a:spcPts val="1200"/>
              </a:spcAft>
              <a:buNone/>
            </a:pPr>
            <a:r>
              <a:rPr lang="en-US" sz="600" b="1" dirty="0">
                <a:solidFill>
                  <a:srgbClr val="0D6401"/>
                </a:solidFill>
                <a:effectLst/>
                <a:latin typeface=".AppleSystemUIFontMonospaced"/>
              </a:rPr>
              <a:t>The RNN output is passed into a linear (or fully connected) layer to generate logits, mapping the hidden state to a vector of size </a:t>
            </a:r>
            <a:r>
              <a:rPr lang="en-US" sz="600" b="1" dirty="0" err="1">
                <a:solidFill>
                  <a:srgbClr val="0D6401"/>
                </a:solidFill>
                <a:effectLst/>
                <a:latin typeface=".AppleSystemUIFontMonospaced"/>
              </a:rPr>
              <a:t>vocab_size</a:t>
            </a:r>
            <a:r>
              <a:rPr lang="en-US" sz="600" b="1" dirty="0">
                <a:solidFill>
                  <a:srgbClr val="0D6401"/>
                </a:solidFill>
                <a:latin typeface=".AppleSystemUIFontMonospaced"/>
              </a:rPr>
              <a:t>, which then represents a score for a token in the vocabulary. This is then used later to generate text. </a:t>
            </a:r>
            <a:endParaRPr lang="en-US" sz="600" dirty="0">
              <a:solidFill>
                <a:srgbClr val="0D6401"/>
              </a:solidFill>
              <a:effectLst/>
              <a:latin typeface=".AppleSystemUIFontMonospaced"/>
            </a:endParaRPr>
          </a:p>
          <a:p>
            <a:pPr marL="0" indent="0">
              <a:lnSpc>
                <a:spcPct val="100000"/>
              </a:lnSpc>
              <a:spcAft>
                <a:spcPts val="1200"/>
              </a:spcAft>
              <a:buNone/>
            </a:pPr>
            <a:r>
              <a:rPr lang="en-US" sz="600" dirty="0">
                <a:solidFill>
                  <a:srgbClr val="000000"/>
                </a:solidFill>
                <a:effectLst/>
                <a:latin typeface=".AppleSystemUIFontMonospaced"/>
              </a:rPr>
              <a:t>    </a:t>
            </a:r>
            <a:r>
              <a:rPr lang="en-US" sz="600" dirty="0">
                <a:solidFill>
                  <a:srgbClr val="0D6401"/>
                </a:solidFill>
                <a:effectLst/>
                <a:latin typeface=".AppleSystemUIFontMonospaced"/>
              </a:rPr>
              <a:t># Return the logits and the final states</a:t>
            </a:r>
          </a:p>
          <a:p>
            <a:pPr marL="0" indent="0">
              <a:lnSpc>
                <a:spcPct val="100000"/>
              </a:lnSpc>
              <a:spcAft>
                <a:spcPts val="1200"/>
              </a:spcAft>
              <a:buNone/>
            </a:pPr>
            <a:r>
              <a:rPr lang="en-US" sz="600" b="0" dirty="0">
                <a:solidFill>
                  <a:srgbClr val="C586C0"/>
                </a:solidFill>
                <a:effectLst/>
                <a:latin typeface="Menlo" panose="020B0609030804020204" pitchFamily="49" charset="0"/>
              </a:rPr>
              <a:t>return</a:t>
            </a:r>
            <a:r>
              <a:rPr lang="en-US" sz="600" b="0" dirty="0">
                <a:solidFill>
                  <a:srgbClr val="D4D4D4"/>
                </a:solidFill>
                <a:effectLst/>
                <a:latin typeface="Menlo" panose="020B0609030804020204" pitchFamily="49" charset="0"/>
              </a:rPr>
              <a:t> </a:t>
            </a:r>
            <a:r>
              <a:rPr lang="en-US" sz="600" b="0" dirty="0">
                <a:solidFill>
                  <a:srgbClr val="9CDCFE"/>
                </a:solidFill>
                <a:effectLst/>
                <a:latin typeface="Menlo" panose="020B0609030804020204" pitchFamily="49" charset="0"/>
              </a:rPr>
              <a:t>logits</a:t>
            </a:r>
            <a:r>
              <a:rPr lang="en-US" sz="600" b="0" dirty="0">
                <a:solidFill>
                  <a:srgbClr val="D4D4D4"/>
                </a:solidFill>
                <a:effectLst/>
                <a:latin typeface="Menlo" panose="020B0609030804020204" pitchFamily="49" charset="0"/>
              </a:rPr>
              <a:t>, </a:t>
            </a:r>
            <a:r>
              <a:rPr lang="en-US" sz="600" b="0" dirty="0">
                <a:solidFill>
                  <a:srgbClr val="9CDCFE"/>
                </a:solidFill>
                <a:effectLst/>
                <a:latin typeface="Menlo" panose="020B0609030804020204" pitchFamily="49" charset="0"/>
              </a:rPr>
              <a:t>state</a:t>
            </a:r>
            <a:endParaRPr lang="en-US" sz="600" dirty="0">
              <a:solidFill>
                <a:srgbClr val="0D6401"/>
              </a:solidFill>
              <a:latin typeface=".AppleSystemUIFontMonospaced"/>
            </a:endParaRPr>
          </a:p>
          <a:p>
            <a:pPr marL="0" indent="0">
              <a:lnSpc>
                <a:spcPct val="100000"/>
              </a:lnSpc>
              <a:spcAft>
                <a:spcPts val="1200"/>
              </a:spcAft>
              <a:buNone/>
            </a:pPr>
            <a:r>
              <a:rPr lang="en-US" sz="600" dirty="0">
                <a:solidFill>
                  <a:srgbClr val="0D6401"/>
                </a:solidFill>
                <a:effectLst/>
                <a:latin typeface=".AppleSystemUIFontMonospaced"/>
              </a:rPr>
              <a:t> </a:t>
            </a:r>
            <a:r>
              <a:rPr lang="en-US" sz="600" b="1" dirty="0">
                <a:solidFill>
                  <a:srgbClr val="0D6401"/>
                </a:solidFill>
                <a:effectLst/>
                <a:latin typeface=".AppleSystemUIFontMonospaced"/>
              </a:rPr>
              <a:t>Final step is to return the data generated into the model., to be used for the next forward pass. </a:t>
            </a:r>
            <a:endParaRPr lang="en-US" sz="600" dirty="0">
              <a:solidFill>
                <a:srgbClr val="0D6401"/>
              </a:solidFill>
              <a:effectLst/>
              <a:latin typeface=".AppleSystemUIFontMonospaced"/>
            </a:endParaRPr>
          </a:p>
          <a:p>
            <a:pPr marL="0" lvl="0" indent="0" algn="l" rtl="0">
              <a:lnSpc>
                <a:spcPct val="100000"/>
              </a:lnSpc>
              <a:spcBef>
                <a:spcPts val="0"/>
              </a:spcBef>
              <a:spcAft>
                <a:spcPts val="1200"/>
              </a:spcAft>
              <a:buNone/>
            </a:pPr>
            <a:endParaRPr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73767"/>
            <a:ext cx="8520600" cy="142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t>4. When training, </a:t>
            </a:r>
            <a:r>
              <a:rPr lang="en" sz="2200" dirty="0" err="1"/>
              <a:t>PyTorch</a:t>
            </a:r>
            <a:r>
              <a:rPr lang="en" sz="2200" dirty="0"/>
              <a:t> makes a “graph” of all the operations we perform so that it can automatically compute the derivatives of the different neural net weights with respect to the loss. Why do we need to </a:t>
            </a:r>
            <a:r>
              <a:rPr lang="en" sz="2200" dirty="0">
                <a:latin typeface="Courier New"/>
                <a:ea typeface="Courier New"/>
                <a:cs typeface="Courier New"/>
                <a:sym typeface="Courier New"/>
              </a:rPr>
              <a:t>detach_</a:t>
            </a:r>
            <a:r>
              <a:rPr lang="en" sz="2200" dirty="0"/>
              <a:t> this graph from our state variables between batches? Why not start over with a blank state?</a:t>
            </a:r>
            <a:endParaRPr sz="2200" dirty="0"/>
          </a:p>
        </p:txBody>
      </p:sp>
      <p:sp>
        <p:nvSpPr>
          <p:cNvPr id="97" name="Google Shape;97;p18"/>
          <p:cNvSpPr txBox="1">
            <a:spLocks noGrp="1"/>
          </p:cNvSpPr>
          <p:nvPr>
            <p:ph type="body" idx="1"/>
          </p:nvPr>
        </p:nvSpPr>
        <p:spPr>
          <a:xfrm>
            <a:off x="311700" y="1588168"/>
            <a:ext cx="8520600" cy="2980957"/>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en-US" dirty="0"/>
              <a:t>This is a critical step of training RNN models. Without the detach operation, the model would try to backpropagate through the entire history of the sequence using the generated graph of operations, which in an RNN can be unfeasibly long, leading to very large memory usage and long training times. We don’t need to backpropagate through the entire graph because we’ve already stored previous knowledge in the hidden state. However, we can’t start over with a blank state either, as the loss of context would reset the RNN’s memory. If you reset the state, that would mean the model forgets prior words, which hurts accuracy. Retaining but detaching the state between batches allows the model leverage the context without rebuilding the graph or starting fresh.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311700" y="108649"/>
            <a:ext cx="8520600" cy="144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t>5. Create a model using the </a:t>
            </a:r>
            <a:r>
              <a:rPr lang="en" sz="2200" dirty="0" err="1">
                <a:latin typeface="Courier New"/>
                <a:ea typeface="Courier New"/>
                <a:cs typeface="Courier New"/>
                <a:sym typeface="Courier New"/>
              </a:rPr>
              <a:t>create_model</a:t>
            </a:r>
            <a:r>
              <a:rPr lang="en" sz="2200" dirty="0"/>
              <a:t> function </a:t>
            </a:r>
            <a:r>
              <a:rPr lang="en" sz="2200" i="1" dirty="0"/>
              <a:t>without</a:t>
            </a:r>
            <a:r>
              <a:rPr lang="en" sz="2200" dirty="0"/>
              <a:t> training it with </a:t>
            </a:r>
            <a:r>
              <a:rPr lang="en" sz="2200" dirty="0" err="1">
                <a:latin typeface="Courier New"/>
                <a:ea typeface="Courier New"/>
                <a:cs typeface="Courier New"/>
                <a:sym typeface="Courier New"/>
              </a:rPr>
              <a:t>train_model</a:t>
            </a:r>
            <a:r>
              <a:rPr lang="en" sz="2200" dirty="0"/>
              <a:t>. Use this model to generate some text. Does this text appear structured? Does it at least seem Shakespearean? Include at least two samples of at least 20 tokens each and comment on the output.</a:t>
            </a:r>
            <a:endParaRPr sz="2200" dirty="0"/>
          </a:p>
        </p:txBody>
      </p:sp>
      <p:sp>
        <p:nvSpPr>
          <p:cNvPr id="109" name="Google Shape;109;p20"/>
          <p:cNvSpPr txBox="1">
            <a:spLocks noGrp="1"/>
          </p:cNvSpPr>
          <p:nvPr>
            <p:ph type="body" idx="1"/>
          </p:nvPr>
        </p:nvSpPr>
        <p:spPr>
          <a:xfrm>
            <a:off x="311700" y="1944450"/>
            <a:ext cx="4260300" cy="1517700"/>
          </a:xfrm>
          <a:prstGeom prst="rect">
            <a:avLst/>
          </a:prstGeom>
        </p:spPr>
        <p:txBody>
          <a:bodyPr spcFirstLastPara="1" wrap="square" lIns="91425" tIns="91425" rIns="91425" bIns="91425" anchor="t" anchorCtr="0">
            <a:normAutofit fontScale="85000" lnSpcReduction="10000"/>
          </a:bodyPr>
          <a:lstStyle/>
          <a:p>
            <a:pPr marL="457200" lvl="0" indent="-342900" algn="l" rtl="0">
              <a:spcBef>
                <a:spcPts val="0"/>
              </a:spcBef>
              <a:spcAft>
                <a:spcPts val="0"/>
              </a:spcAft>
              <a:buSzPts val="1800"/>
              <a:buChar char="●"/>
            </a:pPr>
            <a:r>
              <a:rPr lang="en" dirty="0"/>
              <a:t>Sample 1:</a:t>
            </a:r>
            <a:endParaRPr dirty="0"/>
          </a:p>
          <a:p>
            <a:pPr marL="0" lvl="0" indent="0" algn="l" rtl="0">
              <a:spcBef>
                <a:spcPts val="1200"/>
              </a:spcBef>
              <a:spcAft>
                <a:spcPts val="1200"/>
              </a:spcAft>
              <a:buNone/>
            </a:pPr>
            <a:r>
              <a:rPr lang="en-US" sz="1200" dirty="0" err="1"/>
              <a:t>conferr</a:t>
            </a:r>
            <a:r>
              <a:rPr lang="en-US" sz="1200" dirty="0"/>
              <a:t> </a:t>
            </a:r>
            <a:r>
              <a:rPr lang="en-US" sz="1200" dirty="0" err="1"/>
              <a:t>circum</a:t>
            </a:r>
            <a:r>
              <a:rPr lang="en-US" sz="1200" dirty="0"/>
              <a:t> slumber immortal jollity craved archery </a:t>
            </a:r>
            <a:r>
              <a:rPr lang="en-US" sz="1200" dirty="0" err="1"/>
              <a:t>inacc</a:t>
            </a:r>
            <a:r>
              <a:rPr lang="en-US" sz="1200" dirty="0"/>
              <a:t> mistaking fragment </a:t>
            </a:r>
            <a:r>
              <a:rPr lang="en-US" sz="1200" dirty="0" err="1"/>
              <a:t>yor</a:t>
            </a:r>
            <a:r>
              <a:rPr lang="en-US" sz="1200" dirty="0"/>
              <a:t> begot prompts install wretches diverted dissuade </a:t>
            </a:r>
            <a:r>
              <a:rPr lang="en-US" sz="1200" dirty="0" err="1"/>
              <a:t>frozenoln</a:t>
            </a:r>
            <a:r>
              <a:rPr lang="en-US" sz="1200" dirty="0"/>
              <a:t> partisans reverberate senses intrude shipwright deceased </a:t>
            </a:r>
            <a:r>
              <a:rPr lang="en-US" sz="1200" dirty="0" err="1"/>
              <a:t>emphas</a:t>
            </a:r>
            <a:r>
              <a:rPr lang="en-US" sz="1200" dirty="0"/>
              <a:t> </a:t>
            </a:r>
            <a:r>
              <a:rPr lang="en-US" sz="1200" dirty="0" err="1"/>
              <a:t>unworth</a:t>
            </a:r>
            <a:r>
              <a:rPr lang="en-US" sz="1200" dirty="0"/>
              <a:t> </a:t>
            </a:r>
            <a:r>
              <a:rPr lang="en-US" sz="1200" dirty="0" err="1"/>
              <a:t>blastsiddenoops</a:t>
            </a:r>
            <a:endParaRPr lang="en-US" sz="1200" dirty="0"/>
          </a:p>
        </p:txBody>
      </p:sp>
      <p:sp>
        <p:nvSpPr>
          <p:cNvPr id="110" name="Google Shape;110;p20"/>
          <p:cNvSpPr txBox="1">
            <a:spLocks noGrp="1"/>
          </p:cNvSpPr>
          <p:nvPr>
            <p:ph type="body" idx="1"/>
          </p:nvPr>
        </p:nvSpPr>
        <p:spPr>
          <a:xfrm>
            <a:off x="4572000" y="1944450"/>
            <a:ext cx="4260300" cy="151770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Char char="●"/>
            </a:pPr>
            <a:r>
              <a:rPr lang="en" dirty="0"/>
              <a:t>Sample 2:</a:t>
            </a:r>
          </a:p>
          <a:p>
            <a:pPr marL="0" marR="0" lvl="0" indent="0" algn="l" defTabSz="914400" rtl="0" eaLnBrk="1" fontAlgn="auto" latinLnBrk="0" hangingPunct="1">
              <a:lnSpc>
                <a:spcPct val="115000"/>
              </a:lnSpc>
              <a:spcBef>
                <a:spcPts val="1200"/>
              </a:spcBef>
              <a:spcAft>
                <a:spcPts val="1200"/>
              </a:spcAft>
              <a:buClr>
                <a:srgbClr val="695D46"/>
              </a:buClr>
              <a:buSzPts val="1800"/>
              <a:buFont typeface="Open Sans"/>
              <a:buNone/>
              <a:tabLst/>
              <a:defRPr/>
            </a:pPr>
            <a:r>
              <a:rPr kumimoji="0" lang="en-US" sz="1200" b="0" i="0" u="none" strike="noStrike" kern="0" cap="none" spc="0" normalizeH="0" baseline="0" noProof="0" dirty="0" err="1">
                <a:ln>
                  <a:noFill/>
                </a:ln>
                <a:solidFill>
                  <a:srgbClr val="695D46"/>
                </a:solidFill>
                <a:effectLst/>
                <a:uLnTx/>
                <a:uFillTx/>
                <a:latin typeface="Open Sans"/>
                <a:ea typeface="Open Sans"/>
                <a:cs typeface="Open Sans"/>
                <a:sym typeface="Open Sans"/>
              </a:rPr>
              <a:t>pardonnezions</a:t>
            </a:r>
            <a:r>
              <a:rPr kumimoji="0" lang="en-US" sz="1200" b="0" i="0" u="none" strike="noStrike" kern="0" cap="none" spc="0" normalizeH="0" baseline="0" noProof="0" dirty="0">
                <a:ln>
                  <a:noFill/>
                </a:ln>
                <a:solidFill>
                  <a:srgbClr val="695D46"/>
                </a:solidFill>
                <a:effectLst/>
                <a:uLnTx/>
                <a:uFillTx/>
                <a:latin typeface="Open Sans"/>
                <a:ea typeface="Open Sans"/>
                <a:cs typeface="Open Sans"/>
                <a:sym typeface="Open Sans"/>
              </a:rPr>
              <a:t> farthest </a:t>
            </a:r>
            <a:r>
              <a:rPr kumimoji="0" lang="en-US" sz="1200" b="0" i="0" u="none" strike="noStrike" kern="0" cap="none" spc="0" normalizeH="0" baseline="0" noProof="0" dirty="0" err="1">
                <a:ln>
                  <a:noFill/>
                </a:ln>
                <a:solidFill>
                  <a:srgbClr val="695D46"/>
                </a:solidFill>
                <a:effectLst/>
                <a:uLnTx/>
                <a:uFillTx/>
                <a:latin typeface="Open Sans"/>
                <a:ea typeface="Open Sans"/>
                <a:cs typeface="Open Sans"/>
                <a:sym typeface="Open Sans"/>
              </a:rPr>
              <a:t>lafeu</a:t>
            </a:r>
            <a:r>
              <a:rPr kumimoji="0" lang="en-US" sz="1200" b="0" i="0" u="none" strike="noStrike" kern="0" cap="none" spc="0" normalizeH="0" baseline="0" noProof="0" dirty="0">
                <a:ln>
                  <a:noFill/>
                </a:ln>
                <a:solidFill>
                  <a:srgbClr val="695D46"/>
                </a:solidFill>
                <a:effectLst/>
                <a:uLnTx/>
                <a:uFillTx/>
                <a:latin typeface="Open Sans"/>
                <a:ea typeface="Open Sans"/>
                <a:cs typeface="Open Sans"/>
                <a:sym typeface="Open Sans"/>
              </a:rPr>
              <a:t> uplifted outstretch cleave </a:t>
            </a:r>
            <a:r>
              <a:rPr kumimoji="0" lang="en-US" sz="1200" b="0" i="0" u="none" strike="noStrike" kern="0" cap="none" spc="0" normalizeH="0" baseline="0" noProof="0" dirty="0" err="1">
                <a:ln>
                  <a:noFill/>
                </a:ln>
                <a:solidFill>
                  <a:srgbClr val="695D46"/>
                </a:solidFill>
                <a:effectLst/>
                <a:uLnTx/>
                <a:uFillTx/>
                <a:latin typeface="Open Sans"/>
                <a:ea typeface="Open Sans"/>
                <a:cs typeface="Open Sans"/>
                <a:sym typeface="Open Sans"/>
              </a:rPr>
              <a:t>beauteousident</a:t>
            </a:r>
            <a:r>
              <a:rPr kumimoji="0" lang="en-US" sz="1200" b="0" i="0" u="none" strike="noStrike" kern="0" cap="none" spc="0" normalizeH="0" baseline="0" noProof="0" dirty="0">
                <a:ln>
                  <a:noFill/>
                </a:ln>
                <a:solidFill>
                  <a:srgbClr val="695D46"/>
                </a:solidFill>
                <a:effectLst/>
                <a:uLnTx/>
                <a:uFillTx/>
                <a:latin typeface="Open Sans"/>
                <a:ea typeface="Open Sans"/>
                <a:cs typeface="Open Sans"/>
                <a:sym typeface="Open Sans"/>
              </a:rPr>
              <a:t> </a:t>
            </a:r>
            <a:r>
              <a:rPr kumimoji="0" lang="en-US" sz="1200" b="0" i="0" u="none" strike="noStrike" kern="0" cap="none" spc="0" normalizeH="0" baseline="0" noProof="0" dirty="0" err="1">
                <a:ln>
                  <a:noFill/>
                </a:ln>
                <a:solidFill>
                  <a:srgbClr val="695D46"/>
                </a:solidFill>
                <a:effectLst/>
                <a:uLnTx/>
                <a:uFillTx/>
                <a:latin typeface="Open Sans"/>
                <a:ea typeface="Open Sans"/>
                <a:cs typeface="Open Sans"/>
                <a:sym typeface="Open Sans"/>
              </a:rPr>
              <a:t>foolination</a:t>
            </a:r>
            <a:r>
              <a:rPr kumimoji="0" lang="en-US" sz="1200" b="0" i="0" u="none" strike="noStrike" kern="0" cap="none" spc="0" normalizeH="0" baseline="0" noProof="0" dirty="0">
                <a:ln>
                  <a:noFill/>
                </a:ln>
                <a:solidFill>
                  <a:srgbClr val="695D46"/>
                </a:solidFill>
                <a:effectLst/>
                <a:uLnTx/>
                <a:uFillTx/>
                <a:latin typeface="Open Sans"/>
                <a:ea typeface="Open Sans"/>
                <a:cs typeface="Open Sans"/>
                <a:sym typeface="Open Sans"/>
              </a:rPr>
              <a:t> neg uncurrent </a:t>
            </a:r>
            <a:r>
              <a:rPr kumimoji="0" lang="en-US" sz="1200" b="0" i="0" u="none" strike="noStrike" kern="0" cap="none" spc="0" normalizeH="0" baseline="0" noProof="0" dirty="0" err="1">
                <a:ln>
                  <a:noFill/>
                </a:ln>
                <a:solidFill>
                  <a:srgbClr val="695D46"/>
                </a:solidFill>
                <a:effectLst/>
                <a:uLnTx/>
                <a:uFillTx/>
                <a:latin typeface="Open Sans"/>
                <a:ea typeface="Open Sans"/>
                <a:cs typeface="Open Sans"/>
                <a:sym typeface="Open Sans"/>
              </a:rPr>
              <a:t>bondssoe</a:t>
            </a:r>
            <a:r>
              <a:rPr kumimoji="0" lang="en-US" sz="1200" b="0" i="0" u="none" strike="noStrike" kern="0" cap="none" spc="0" normalizeH="0" baseline="0" noProof="0" dirty="0">
                <a:ln>
                  <a:noFill/>
                </a:ln>
                <a:solidFill>
                  <a:srgbClr val="695D46"/>
                </a:solidFill>
                <a:effectLst/>
                <a:uLnTx/>
                <a:uFillTx/>
                <a:latin typeface="Open Sans"/>
                <a:ea typeface="Open Sans"/>
                <a:cs typeface="Open Sans"/>
                <a:sym typeface="Open Sans"/>
              </a:rPr>
              <a:t> fetters seat </a:t>
            </a:r>
            <a:r>
              <a:rPr kumimoji="0" lang="en-US" sz="1200" b="0" i="0" u="none" strike="noStrike" kern="0" cap="none" spc="0" normalizeH="0" baseline="0" noProof="0" dirty="0" err="1">
                <a:ln>
                  <a:noFill/>
                </a:ln>
                <a:solidFill>
                  <a:srgbClr val="695D46"/>
                </a:solidFill>
                <a:effectLst/>
                <a:uLnTx/>
                <a:uFillTx/>
                <a:latin typeface="Open Sans"/>
                <a:ea typeface="Open Sans"/>
                <a:cs typeface="Open Sans"/>
                <a:sym typeface="Open Sans"/>
              </a:rPr>
              <a:t>cassandra</a:t>
            </a:r>
            <a:r>
              <a:rPr kumimoji="0" lang="en-US" sz="1200" b="0" i="0" u="none" strike="noStrike" kern="0" cap="none" spc="0" normalizeH="0" baseline="0" noProof="0" dirty="0">
                <a:ln>
                  <a:noFill/>
                </a:ln>
                <a:solidFill>
                  <a:srgbClr val="695D46"/>
                </a:solidFill>
                <a:effectLst/>
                <a:uLnTx/>
                <a:uFillTx/>
                <a:latin typeface="Open Sans"/>
                <a:ea typeface="Open Sans"/>
                <a:cs typeface="Open Sans"/>
                <a:sym typeface="Open Sans"/>
              </a:rPr>
              <a:t> pigeons straightway </a:t>
            </a:r>
            <a:r>
              <a:rPr kumimoji="0" lang="en-US" sz="1200" b="0" i="0" u="none" strike="noStrike" kern="0" cap="none" spc="0" normalizeH="0" baseline="0" noProof="0" dirty="0" err="1">
                <a:ln>
                  <a:noFill/>
                </a:ln>
                <a:solidFill>
                  <a:srgbClr val="695D46"/>
                </a:solidFill>
                <a:effectLst/>
                <a:uLnTx/>
                <a:uFillTx/>
                <a:latin typeface="Open Sans"/>
                <a:ea typeface="Open Sans"/>
                <a:cs typeface="Open Sans"/>
                <a:sym typeface="Open Sans"/>
              </a:rPr>
              <a:t>pyrrh</a:t>
            </a:r>
            <a:r>
              <a:rPr kumimoji="0" lang="en-US" sz="1200" b="0" i="0" u="none" strike="noStrike" kern="0" cap="none" spc="0" normalizeH="0" baseline="0" noProof="0" dirty="0">
                <a:ln>
                  <a:noFill/>
                </a:ln>
                <a:solidFill>
                  <a:srgbClr val="695D46"/>
                </a:solidFill>
                <a:effectLst/>
                <a:uLnTx/>
                <a:uFillTx/>
                <a:latin typeface="Open Sans"/>
                <a:ea typeface="Open Sans"/>
                <a:cs typeface="Open Sans"/>
                <a:sym typeface="Open Sans"/>
              </a:rPr>
              <a:t> gyves assuredly spin swells wanderer </a:t>
            </a:r>
            <a:r>
              <a:rPr kumimoji="0" lang="en-US" sz="1200" b="0" i="0" u="none" strike="noStrike" kern="0" cap="none" spc="0" normalizeH="0" baseline="0" noProof="0" dirty="0" err="1">
                <a:ln>
                  <a:noFill/>
                </a:ln>
                <a:solidFill>
                  <a:srgbClr val="695D46"/>
                </a:solidFill>
                <a:effectLst/>
                <a:uLnTx/>
                <a:uFillTx/>
                <a:latin typeface="Open Sans"/>
                <a:ea typeface="Open Sans"/>
                <a:cs typeface="Open Sans"/>
                <a:sym typeface="Open Sans"/>
              </a:rPr>
              <a:t>concl</a:t>
            </a:r>
            <a:r>
              <a:rPr kumimoji="0" lang="en-US" sz="1200" b="0" i="0" u="none" strike="noStrike" kern="0" cap="none" spc="0" normalizeH="0" baseline="0" noProof="0" dirty="0">
                <a:ln>
                  <a:noFill/>
                </a:ln>
                <a:solidFill>
                  <a:srgbClr val="695D46"/>
                </a:solidFill>
                <a:effectLst/>
                <a:uLnTx/>
                <a:uFillTx/>
                <a:latin typeface="Open Sans"/>
                <a:ea typeface="Open Sans"/>
                <a:cs typeface="Open Sans"/>
                <a:sym typeface="Open Sans"/>
              </a:rPr>
              <a:t> </a:t>
            </a:r>
            <a:r>
              <a:rPr kumimoji="0" lang="en-US" sz="1200" b="0" i="0" u="none" strike="noStrike" kern="0" cap="none" spc="0" normalizeH="0" baseline="0" noProof="0" dirty="0" err="1">
                <a:ln>
                  <a:noFill/>
                </a:ln>
                <a:solidFill>
                  <a:srgbClr val="695D46"/>
                </a:solidFill>
                <a:effectLst/>
                <a:uLnTx/>
                <a:uFillTx/>
                <a:latin typeface="Open Sans"/>
                <a:ea typeface="Open Sans"/>
                <a:cs typeface="Open Sans"/>
                <a:sym typeface="Open Sans"/>
              </a:rPr>
              <a:t>conclud</a:t>
            </a:r>
            <a:r>
              <a:rPr kumimoji="0" lang="en-US" sz="1200" b="0" i="0" u="none" strike="noStrike" kern="0" cap="none" spc="0" normalizeH="0" baseline="0" noProof="0" dirty="0">
                <a:ln>
                  <a:noFill/>
                </a:ln>
                <a:solidFill>
                  <a:srgbClr val="695D46"/>
                </a:solidFill>
                <a:effectLst/>
                <a:uLnTx/>
                <a:uFillTx/>
                <a:latin typeface="Open Sans"/>
                <a:ea typeface="Open Sans"/>
                <a:cs typeface="Open Sans"/>
                <a:sym typeface="Open Sans"/>
              </a:rPr>
              <a:t> </a:t>
            </a:r>
            <a:r>
              <a:rPr kumimoji="0" lang="en-US" sz="1200" b="0" i="0" u="none" strike="noStrike" kern="0" cap="none" spc="0" normalizeH="0" baseline="0" noProof="0" dirty="0" err="1">
                <a:ln>
                  <a:noFill/>
                </a:ln>
                <a:solidFill>
                  <a:srgbClr val="695D46"/>
                </a:solidFill>
                <a:effectLst/>
                <a:uLnTx/>
                <a:uFillTx/>
                <a:latin typeface="Open Sans"/>
                <a:ea typeface="Open Sans"/>
                <a:cs typeface="Open Sans"/>
                <a:sym typeface="Open Sans"/>
              </a:rPr>
              <a:t>girgon</a:t>
            </a:r>
            <a:endParaRPr kumimoji="0" lang="en-US" sz="1200" b="0" i="0" u="none" strike="noStrike" kern="0" cap="none" spc="0" normalizeH="0" baseline="0" noProof="0" dirty="0">
              <a:ln>
                <a:noFill/>
              </a:ln>
              <a:solidFill>
                <a:srgbClr val="695D46"/>
              </a:solidFill>
              <a:effectLst/>
              <a:uLnTx/>
              <a:uFillTx/>
              <a:latin typeface="Open Sans"/>
              <a:ea typeface="Open Sans"/>
              <a:cs typeface="Open Sans"/>
              <a:sym typeface="Open Sans"/>
            </a:endParaRPr>
          </a:p>
        </p:txBody>
      </p:sp>
      <p:sp>
        <p:nvSpPr>
          <p:cNvPr id="111" name="Google Shape;111;p20"/>
          <p:cNvSpPr txBox="1">
            <a:spLocks noGrp="1"/>
          </p:cNvSpPr>
          <p:nvPr>
            <p:ph type="body" idx="1"/>
          </p:nvPr>
        </p:nvSpPr>
        <p:spPr>
          <a:xfrm>
            <a:off x="311700" y="3462149"/>
            <a:ext cx="8520600" cy="1798963"/>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SzPts val="1800"/>
              <a:buChar char="●"/>
            </a:pPr>
            <a:r>
              <a:rPr lang="en" dirty="0"/>
              <a:t>Comments:</a:t>
            </a:r>
            <a:endParaRPr dirty="0"/>
          </a:p>
          <a:p>
            <a:pPr marL="0" lvl="0" indent="0" algn="l" rtl="0">
              <a:spcBef>
                <a:spcPts val="1200"/>
              </a:spcBef>
              <a:spcAft>
                <a:spcPts val="1200"/>
              </a:spcAft>
              <a:buNone/>
            </a:pPr>
            <a:r>
              <a:rPr lang="en-US" sz="1200" dirty="0"/>
              <a:t>This text does not appear structured. Although the sample without training appears to contain full tokens, it does not produce anything similar to the play-like structure produced by the trained model. We see that neither of the two samples make much sense from a meaning perspective, with no discernible sentences, just a string of meaningless text. Although the vocabulary here does appear Shakespearean, that is the least that you would expect considering the corpus of training text is based on Shakespeare vocabulary. It does not have the structure or meaning that would make it resemble a </a:t>
            </a:r>
            <a:r>
              <a:rPr lang="en-US" sz="1200" dirty="0" err="1"/>
              <a:t>Shakespeareplay</a:t>
            </a:r>
            <a:r>
              <a:rPr lang="en-US" sz="1200" dirty="0"/>
              <a:t>. </a:t>
            </a:r>
            <a:endParaRPr sz="1200" dirty="0"/>
          </a:p>
        </p:txBody>
      </p:sp>
      <p:cxnSp>
        <p:nvCxnSpPr>
          <p:cNvPr id="112" name="Google Shape;112;p20"/>
          <p:cNvCxnSpPr/>
          <p:nvPr/>
        </p:nvCxnSpPr>
        <p:spPr>
          <a:xfrm rot="10800000">
            <a:off x="4572000" y="1945025"/>
            <a:ext cx="0" cy="1517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xfrm>
            <a:off x="311700" y="108142"/>
            <a:ext cx="8520600" cy="143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t>6. Train a model using </a:t>
            </a:r>
            <a:r>
              <a:rPr lang="en" sz="2200" dirty="0" err="1">
                <a:latin typeface="Courier New"/>
                <a:ea typeface="Courier New"/>
                <a:cs typeface="Courier New"/>
                <a:sym typeface="Courier New"/>
              </a:rPr>
              <a:t>model_type</a:t>
            </a:r>
            <a:r>
              <a:rPr lang="en" sz="2200" dirty="0">
                <a:latin typeface="Courier New"/>
                <a:ea typeface="Courier New"/>
                <a:cs typeface="Courier New"/>
                <a:sym typeface="Courier New"/>
              </a:rPr>
              <a:t>=RNN,</a:t>
            </a:r>
            <a:r>
              <a:rPr lang="en-US" sz="2200" dirty="0">
                <a:latin typeface="Courier New"/>
                <a:ea typeface="Courier New"/>
                <a:cs typeface="Courier New"/>
                <a:sym typeface="Courier New"/>
              </a:rPr>
              <a:t>LSTM,GRU</a:t>
            </a:r>
            <a:r>
              <a:rPr lang="en" sz="2200" dirty="0"/>
              <a:t>. For each model, record one generated text of at least 10 tokens that you found interesting for understanding the model behavior. How does each model’s output compare to each other? What happens if you set </a:t>
            </a:r>
            <a:r>
              <a:rPr lang="en" sz="2200" dirty="0" err="1">
                <a:latin typeface="Courier New"/>
                <a:ea typeface="Courier New"/>
                <a:cs typeface="Courier New"/>
                <a:sym typeface="Courier New"/>
              </a:rPr>
              <a:t>by_prob</a:t>
            </a:r>
            <a:r>
              <a:rPr lang="en" sz="2200" dirty="0">
                <a:latin typeface="Courier New"/>
                <a:ea typeface="Courier New"/>
                <a:cs typeface="Courier New"/>
                <a:sym typeface="Courier New"/>
              </a:rPr>
              <a:t>=False</a:t>
            </a:r>
            <a:r>
              <a:rPr lang="en" sz="2200" dirty="0"/>
              <a:t> and </a:t>
            </a:r>
            <a:r>
              <a:rPr lang="en" sz="2200" dirty="0" err="1">
                <a:latin typeface="Courier New"/>
                <a:ea typeface="Courier New"/>
                <a:cs typeface="Courier New"/>
                <a:sym typeface="Courier New"/>
              </a:rPr>
              <a:t>by_prob</a:t>
            </a:r>
            <a:r>
              <a:rPr lang="en" sz="2200" dirty="0">
                <a:latin typeface="Courier New"/>
                <a:ea typeface="Courier New"/>
                <a:cs typeface="Courier New"/>
                <a:sym typeface="Courier New"/>
              </a:rPr>
              <a:t>=True?</a:t>
            </a:r>
            <a:endParaRPr sz="2200" dirty="0"/>
          </a:p>
        </p:txBody>
      </p:sp>
      <p:graphicFrame>
        <p:nvGraphicFramePr>
          <p:cNvPr id="10" name="Table 9">
            <a:extLst>
              <a:ext uri="{FF2B5EF4-FFF2-40B4-BE49-F238E27FC236}">
                <a16:creationId xmlns:a16="http://schemas.microsoft.com/office/drawing/2014/main" id="{6C270F30-D541-0298-B19D-99DACEE051D2}"/>
              </a:ext>
            </a:extLst>
          </p:cNvPr>
          <p:cNvGraphicFramePr>
            <a:graphicFrameLocks noGrp="1"/>
          </p:cNvGraphicFramePr>
          <p:nvPr>
            <p:extLst>
              <p:ext uri="{D42A27DB-BD31-4B8C-83A1-F6EECF244321}">
                <p14:modId xmlns:p14="http://schemas.microsoft.com/office/powerpoint/2010/main" val="1189375340"/>
              </p:ext>
            </p:extLst>
          </p:nvPr>
        </p:nvGraphicFramePr>
        <p:xfrm>
          <a:off x="311700" y="1547242"/>
          <a:ext cx="8571044" cy="3539082"/>
        </p:xfrm>
        <a:graphic>
          <a:graphicData uri="http://schemas.openxmlformats.org/drawingml/2006/table">
            <a:tbl>
              <a:tblPr firstRow="1" bandRow="1">
                <a:tableStyleId>{BC89EF96-8CEA-46FF-86C4-4CE0E7609802}</a:tableStyleId>
              </a:tblPr>
              <a:tblGrid>
                <a:gridCol w="747080">
                  <a:extLst>
                    <a:ext uri="{9D8B030D-6E8A-4147-A177-3AD203B41FA5}">
                      <a16:colId xmlns:a16="http://schemas.microsoft.com/office/drawing/2014/main" val="84716003"/>
                    </a:ext>
                  </a:extLst>
                </a:gridCol>
                <a:gridCol w="2607988">
                  <a:extLst>
                    <a:ext uri="{9D8B030D-6E8A-4147-A177-3AD203B41FA5}">
                      <a16:colId xmlns:a16="http://schemas.microsoft.com/office/drawing/2014/main" val="3154533188"/>
                    </a:ext>
                  </a:extLst>
                </a:gridCol>
                <a:gridCol w="2607988">
                  <a:extLst>
                    <a:ext uri="{9D8B030D-6E8A-4147-A177-3AD203B41FA5}">
                      <a16:colId xmlns:a16="http://schemas.microsoft.com/office/drawing/2014/main" val="1777085866"/>
                    </a:ext>
                  </a:extLst>
                </a:gridCol>
                <a:gridCol w="2607988">
                  <a:extLst>
                    <a:ext uri="{9D8B030D-6E8A-4147-A177-3AD203B41FA5}">
                      <a16:colId xmlns:a16="http://schemas.microsoft.com/office/drawing/2014/main" val="1295037858"/>
                    </a:ext>
                  </a:extLst>
                </a:gridCol>
              </a:tblGrid>
              <a:tr h="305674">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1" i="0" u="none" strike="noStrike" kern="0" cap="none" spc="0" normalizeH="0" baseline="0" noProof="0" dirty="0">
                          <a:ln>
                            <a:noFill/>
                          </a:ln>
                          <a:solidFill>
                            <a:srgbClr val="EF6C00"/>
                          </a:solidFill>
                          <a:effectLst/>
                          <a:uLnTx/>
                          <a:uFillTx/>
                          <a:latin typeface="Courier New"/>
                          <a:ea typeface="Courier New"/>
                          <a:cs typeface="Courier New"/>
                          <a:sym typeface="Courier New"/>
                        </a:rPr>
                        <a:t>RNN</a:t>
                      </a:r>
                      <a:endParaRPr lang="en-US" sz="1400" dirty="0"/>
                    </a:p>
                  </a:txBody>
                  <a:tcPr anchor="ctr"/>
                </a:tc>
                <a:tc>
                  <a:txBody>
                    <a:bodyPr/>
                    <a:lstStyle/>
                    <a:p>
                      <a:pPr algn="ctr"/>
                      <a:r>
                        <a:rPr kumimoji="0" lang="en" sz="1400" b="1" i="0" u="none" strike="noStrike" kern="0" cap="none" spc="0" normalizeH="0" baseline="0" noProof="0" dirty="0">
                          <a:ln>
                            <a:noFill/>
                          </a:ln>
                          <a:solidFill>
                            <a:srgbClr val="EF6C00"/>
                          </a:solidFill>
                          <a:effectLst/>
                          <a:uLnTx/>
                          <a:uFillTx/>
                          <a:latin typeface="Courier New"/>
                          <a:cs typeface="Courier New"/>
                          <a:sym typeface="Courier New"/>
                        </a:rPr>
                        <a:t>LSTM</a:t>
                      </a:r>
                      <a:endParaRPr lang="en-US" b="0" dirty="0"/>
                    </a:p>
                  </a:txBody>
                  <a:tcPr anchor="ctr"/>
                </a:tc>
                <a:tc>
                  <a:txBody>
                    <a:bodyPr/>
                    <a:lstStyle/>
                    <a:p>
                      <a:pPr algn="ctr"/>
                      <a:r>
                        <a:rPr kumimoji="0" lang="en" sz="1400" b="1" i="0" u="none" strike="noStrike" kern="0" cap="none" spc="0" normalizeH="0" baseline="0" noProof="0" dirty="0">
                          <a:ln>
                            <a:noFill/>
                          </a:ln>
                          <a:solidFill>
                            <a:srgbClr val="EF6C00"/>
                          </a:solidFill>
                          <a:effectLst/>
                          <a:uLnTx/>
                          <a:uFillTx/>
                          <a:latin typeface="Courier New"/>
                          <a:ea typeface="Courier New"/>
                          <a:cs typeface="Courier New"/>
                          <a:sym typeface="Courier New"/>
                        </a:rPr>
                        <a:t>GRU</a:t>
                      </a:r>
                      <a:endParaRPr lang="en-US" b="0" dirty="0"/>
                    </a:p>
                  </a:txBody>
                  <a:tcPr anchor="ctr"/>
                </a:tc>
                <a:extLst>
                  <a:ext uri="{0D108BD9-81ED-4DB2-BD59-A6C34878D82A}">
                    <a16:rowId xmlns:a16="http://schemas.microsoft.com/office/drawing/2014/main" val="2075907566"/>
                  </a:ext>
                </a:extLst>
              </a:tr>
              <a:tr h="80211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1" i="0" u="none" strike="noStrike" kern="0" cap="none" spc="0" normalizeH="0" baseline="0" noProof="0" dirty="0">
                          <a:ln>
                            <a:noFill/>
                          </a:ln>
                          <a:solidFill>
                            <a:srgbClr val="EF6C00"/>
                          </a:solidFill>
                          <a:effectLst/>
                          <a:uLnTx/>
                          <a:uFillTx/>
                          <a:latin typeface="Courier New"/>
                          <a:ea typeface="Courier New"/>
                          <a:cs typeface="Courier New"/>
                          <a:sym typeface="Courier New"/>
                        </a:rPr>
                        <a:t>False</a:t>
                      </a:r>
                      <a:endParaRPr lang="en-US" sz="1400" dirty="0"/>
                    </a:p>
                  </a:txBody>
                  <a:tcPr anchor="ctr"/>
                </a:tc>
                <a:tc>
                  <a:txBody>
                    <a:bodyPr/>
                    <a:lstStyle/>
                    <a:p>
                      <a:r>
                        <a:rPr lang="en-US" sz="800" b="0" i="0" u="none" strike="noStrike" cap="none" dirty="0" err="1">
                          <a:solidFill>
                            <a:srgbClr val="000000"/>
                          </a:solidFill>
                          <a:effectLst/>
                          <a:latin typeface="+mn-lt"/>
                          <a:ea typeface="+mn-ea"/>
                          <a:cs typeface="+mn-cs"/>
                          <a:sym typeface="Arial"/>
                        </a:rPr>
                        <a:t>volumnia</a:t>
                      </a:r>
                      <a:r>
                        <a:rPr lang="en-US" sz="800" b="0" i="0" u="none" strike="noStrike" cap="none" dirty="0">
                          <a:solidFill>
                            <a:srgbClr val="000000"/>
                          </a:solidFill>
                          <a:effectLst/>
                          <a:latin typeface="+mn-lt"/>
                          <a:ea typeface="+mn-ea"/>
                          <a:cs typeface="+mn-cs"/>
                          <a:sym typeface="Arial"/>
                        </a:rPr>
                        <a:t> : and,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a:t>
                      </a:r>
                      <a:r>
                        <a:rPr lang="en-US" sz="800" b="0" i="0" u="none" strike="noStrike" cap="none" dirty="0" err="1">
                          <a:solidFill>
                            <a:srgbClr val="000000"/>
                          </a:solidFill>
                          <a:effectLst/>
                          <a:latin typeface="+mn-lt"/>
                          <a:ea typeface="+mn-ea"/>
                          <a:cs typeface="+mn-cs"/>
                          <a:sym typeface="Arial"/>
                        </a:rPr>
                        <a:t>adriano</a:t>
                      </a:r>
                      <a:r>
                        <a:rPr lang="en-US" sz="800" b="0" i="0" u="none" strike="noStrike" cap="none" dirty="0">
                          <a:solidFill>
                            <a:srgbClr val="000000"/>
                          </a:solidFill>
                          <a:effectLst/>
                          <a:latin typeface="+mn-lt"/>
                          <a:ea typeface="+mn-ea"/>
                          <a:cs typeface="+mn-cs"/>
                          <a:sym typeface="Arial"/>
                        </a:rPr>
                        <a:t> de </a:t>
                      </a:r>
                      <a:r>
                        <a:rPr lang="en-US" sz="800" b="0" i="0" u="none" strike="noStrike" cap="none" dirty="0" err="1">
                          <a:solidFill>
                            <a:srgbClr val="000000"/>
                          </a:solidFill>
                          <a:effectLst/>
                          <a:latin typeface="+mn-lt"/>
                          <a:ea typeface="+mn-ea"/>
                          <a:cs typeface="+mn-cs"/>
                          <a:sym typeface="Arial"/>
                        </a:rPr>
                        <a:t>armado</a:t>
                      </a:r>
                      <a:r>
                        <a:rPr lang="en-US" sz="800" b="0" i="0" u="none" strike="noStrike" cap="none" dirty="0">
                          <a:solidFill>
                            <a:srgbClr val="000000"/>
                          </a:solidFill>
                          <a:effectLst/>
                          <a:latin typeface="+mn-lt"/>
                          <a:ea typeface="+mn-ea"/>
                          <a:cs typeface="+mn-cs"/>
                          <a:sym typeface="Arial"/>
                        </a:rPr>
                        <a:t> : dies,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king henry v : and,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a:t>
                      </a:r>
                      <a:r>
                        <a:rPr lang="en-US" sz="800" b="0" i="0" u="none" strike="noStrike" cap="none" dirty="0" err="1">
                          <a:solidFill>
                            <a:srgbClr val="000000"/>
                          </a:solidFill>
                          <a:effectLst/>
                          <a:latin typeface="+mn-lt"/>
                          <a:ea typeface="+mn-ea"/>
                          <a:cs typeface="+mn-cs"/>
                          <a:sym typeface="Arial"/>
                        </a:rPr>
                        <a:t>adriano</a:t>
                      </a:r>
                      <a:r>
                        <a:rPr lang="en-US" sz="800" b="0" i="0" u="none" strike="noStrike" cap="none" dirty="0">
                          <a:solidFill>
                            <a:srgbClr val="000000"/>
                          </a:solidFill>
                          <a:effectLst/>
                          <a:latin typeface="+mn-lt"/>
                          <a:ea typeface="+mn-ea"/>
                          <a:cs typeface="+mn-cs"/>
                          <a:sym typeface="Arial"/>
                        </a:rPr>
                        <a:t> de </a:t>
                      </a:r>
                      <a:r>
                        <a:rPr lang="en-US" sz="800" b="0" i="0" u="none" strike="noStrike" cap="none" dirty="0" err="1">
                          <a:solidFill>
                            <a:srgbClr val="000000"/>
                          </a:solidFill>
                          <a:effectLst/>
                          <a:latin typeface="+mn-lt"/>
                          <a:ea typeface="+mn-ea"/>
                          <a:cs typeface="+mn-cs"/>
                          <a:sym typeface="Arial"/>
                        </a:rPr>
                        <a:t>armado</a:t>
                      </a:r>
                      <a:r>
                        <a:rPr lang="en-US" sz="800" b="0" i="0" u="none" strike="noStrike" cap="none" dirty="0">
                          <a:solidFill>
                            <a:srgbClr val="000000"/>
                          </a:solidFill>
                          <a:effectLst/>
                          <a:latin typeface="+mn-lt"/>
                          <a:ea typeface="+mn-ea"/>
                          <a:cs typeface="+mn-cs"/>
                          <a:sym typeface="Arial"/>
                        </a:rPr>
                        <a:t> : dies,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king henry v : and,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a:t>
                      </a:r>
                      <a:r>
                        <a:rPr lang="en-US" sz="800" b="0" i="0" u="none" strike="noStrike" cap="none" dirty="0" err="1">
                          <a:solidFill>
                            <a:srgbClr val="000000"/>
                          </a:solidFill>
                          <a:effectLst/>
                          <a:latin typeface="+mn-lt"/>
                          <a:ea typeface="+mn-ea"/>
                          <a:cs typeface="+mn-cs"/>
                          <a:sym typeface="Arial"/>
                        </a:rPr>
                        <a:t>adriano</a:t>
                      </a:r>
                      <a:r>
                        <a:rPr lang="en-US" sz="800" b="0" i="0" u="none" strike="noStrike" cap="none" dirty="0">
                          <a:solidFill>
                            <a:srgbClr val="000000"/>
                          </a:solidFill>
                          <a:effectLst/>
                          <a:latin typeface="+mn-lt"/>
                          <a:ea typeface="+mn-ea"/>
                          <a:cs typeface="+mn-cs"/>
                          <a:sym typeface="Arial"/>
                        </a:rPr>
                        <a:t> de </a:t>
                      </a:r>
                      <a:r>
                        <a:rPr lang="en-US" sz="800" b="0" i="0" u="none" strike="noStrike" cap="none" dirty="0" err="1">
                          <a:solidFill>
                            <a:srgbClr val="000000"/>
                          </a:solidFill>
                          <a:effectLst/>
                          <a:latin typeface="+mn-lt"/>
                          <a:ea typeface="+mn-ea"/>
                          <a:cs typeface="+mn-cs"/>
                          <a:sym typeface="Arial"/>
                        </a:rPr>
                        <a:t>armado</a:t>
                      </a:r>
                      <a:r>
                        <a:rPr lang="en-US" sz="800" b="0" i="0" u="none" strike="noStrike" cap="none" dirty="0">
                          <a:solidFill>
                            <a:srgbClr val="000000"/>
                          </a:solidFill>
                          <a:effectLst/>
                          <a:latin typeface="+mn-lt"/>
                          <a:ea typeface="+mn-ea"/>
                          <a:cs typeface="+mn-cs"/>
                          <a:sym typeface="Arial"/>
                        </a:rPr>
                        <a:t> : dies,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king henry v : and,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a:t>
                      </a:r>
                      <a:r>
                        <a:rPr lang="en-US" sz="800" b="0" i="0" u="none" strike="noStrike" cap="none" dirty="0" err="1">
                          <a:solidFill>
                            <a:srgbClr val="000000"/>
                          </a:solidFill>
                          <a:effectLst/>
                          <a:latin typeface="+mn-lt"/>
                          <a:ea typeface="+mn-ea"/>
                          <a:cs typeface="+mn-cs"/>
                          <a:sym typeface="Arial"/>
                        </a:rPr>
                        <a:t>adriano</a:t>
                      </a:r>
                      <a:r>
                        <a:rPr lang="en-US" sz="800" b="0" i="0" u="none" strike="noStrike" cap="none" dirty="0">
                          <a:solidFill>
                            <a:srgbClr val="000000"/>
                          </a:solidFill>
                          <a:effectLst/>
                          <a:latin typeface="+mn-lt"/>
                          <a:ea typeface="+mn-ea"/>
                          <a:cs typeface="+mn-cs"/>
                          <a:sym typeface="Arial"/>
                        </a:rPr>
                        <a:t> de </a:t>
                      </a:r>
                      <a:r>
                        <a:rPr lang="en-US" sz="800" b="0" i="0" u="none" strike="noStrike" cap="none" dirty="0" err="1">
                          <a:solidFill>
                            <a:srgbClr val="000000"/>
                          </a:solidFill>
                          <a:effectLst/>
                          <a:latin typeface="+mn-lt"/>
                          <a:ea typeface="+mn-ea"/>
                          <a:cs typeface="+mn-cs"/>
                          <a:sym typeface="Arial"/>
                        </a:rPr>
                        <a:t>armado</a:t>
                      </a:r>
                      <a:r>
                        <a:rPr lang="en-US" sz="800" b="0" i="0" u="none" strike="noStrike" cap="none" dirty="0">
                          <a:solidFill>
                            <a:srgbClr val="000000"/>
                          </a:solidFill>
                          <a:effectLst/>
                          <a:latin typeface="+mn-lt"/>
                          <a:ea typeface="+mn-ea"/>
                          <a:cs typeface="+mn-cs"/>
                          <a:sym typeface="Arial"/>
                        </a:rPr>
                        <a:t> : dies,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endParaRPr lang="en-US" sz="800" dirty="0">
                        <a:solidFill>
                          <a:srgbClr val="000000"/>
                        </a:solidFill>
                      </a:endParaRPr>
                    </a:p>
                  </a:txBody>
                  <a:tcPr/>
                </a:tc>
                <a:tc>
                  <a:txBody>
                    <a:bodyPr/>
                    <a:lstStyle/>
                    <a:p>
                      <a:r>
                        <a:rPr lang="en-US" sz="800" b="0" i="0" u="none" strike="noStrike" cap="none" dirty="0" err="1">
                          <a:solidFill>
                            <a:srgbClr val="000000"/>
                          </a:solidFill>
                          <a:effectLst/>
                          <a:latin typeface="+mn-lt"/>
                          <a:ea typeface="+mn-ea"/>
                          <a:cs typeface="+mn-cs"/>
                          <a:sym typeface="Arial"/>
                        </a:rPr>
                        <a:t>lorraine</a:t>
                      </a:r>
                      <a:r>
                        <a:rPr lang="en-US" sz="800" b="0" i="0" u="none" strike="noStrike" cap="none" dirty="0">
                          <a:solidFill>
                            <a:srgbClr val="000000"/>
                          </a:solidFill>
                          <a:effectLst/>
                          <a:latin typeface="+mn-lt"/>
                          <a:ea typeface="+mn-ea"/>
                          <a:cs typeface="+mn-cs"/>
                          <a:sym typeface="Arial"/>
                        </a:rPr>
                        <a:t> </a:t>
                      </a:r>
                      <a:r>
                        <a:rPr lang="en-US" sz="800" b="0" i="0" u="none" strike="noStrike" cap="none" dirty="0" err="1">
                          <a:solidFill>
                            <a:srgbClr val="000000"/>
                          </a:solidFill>
                          <a:effectLst/>
                          <a:latin typeface="+mn-lt"/>
                          <a:ea typeface="+mn-ea"/>
                          <a:cs typeface="+mn-cs"/>
                          <a:sym typeface="Arial"/>
                        </a:rPr>
                        <a:t>lorraine</a:t>
                      </a:r>
                      <a:r>
                        <a:rPr lang="en-US" sz="800" b="0" i="0" u="none" strike="noStrike" cap="none" dirty="0">
                          <a:solidFill>
                            <a:srgbClr val="000000"/>
                          </a:solidFill>
                          <a:effectLst/>
                          <a:latin typeface="+mn-lt"/>
                          <a:ea typeface="+mn-ea"/>
                          <a:cs typeface="+mn-cs"/>
                          <a:sym typeface="Arial"/>
                        </a:rPr>
                        <a:t>, basset </a:t>
                      </a:r>
                      <a:r>
                        <a:rPr lang="en-US" sz="800" b="0" i="0" u="none" strike="noStrike" cap="none" dirty="0" err="1">
                          <a:solidFill>
                            <a:srgbClr val="000000"/>
                          </a:solidFill>
                          <a:effectLst/>
                          <a:latin typeface="+mn-lt"/>
                          <a:ea typeface="+mn-ea"/>
                          <a:cs typeface="+mn-cs"/>
                          <a:sym typeface="Arial"/>
                        </a:rPr>
                        <a:t>chim</a:t>
                      </a:r>
                      <a:r>
                        <a:rPr lang="en-US" sz="800" b="0" i="0" u="none" strike="noStrike" cap="none" dirty="0">
                          <a:solidFill>
                            <a:srgbClr val="000000"/>
                          </a:solidFill>
                          <a:effectLst/>
                          <a:latin typeface="+mn-lt"/>
                          <a:ea typeface="+mn-ea"/>
                          <a:cs typeface="+mn-cs"/>
                          <a:sym typeface="Arial"/>
                        </a:rPr>
                        <a:t> </a:t>
                      </a:r>
                      <a:r>
                        <a:rPr lang="en-US" sz="800" b="0" i="0" u="none" strike="noStrike" cap="none" dirty="0" err="1">
                          <a:solidFill>
                            <a:srgbClr val="000000"/>
                          </a:solidFill>
                          <a:effectLst/>
                          <a:latin typeface="+mn-lt"/>
                          <a:ea typeface="+mn-ea"/>
                          <a:cs typeface="+mn-cs"/>
                          <a:sym typeface="Arial"/>
                        </a:rPr>
                        <a:t>chim</a:t>
                      </a:r>
                      <a:r>
                        <a:rPr lang="en-US" sz="800" b="0" i="0" u="none" strike="noStrike" cap="none" dirty="0">
                          <a:solidFill>
                            <a:srgbClr val="000000"/>
                          </a:solidFill>
                          <a:effectLst/>
                          <a:latin typeface="+mn-lt"/>
                          <a:ea typeface="+mn-ea"/>
                          <a:cs typeface="+mn-cs"/>
                          <a:sym typeface="Arial"/>
                        </a:rPr>
                        <a:t> </a:t>
                      </a:r>
                      <a:r>
                        <a:rPr lang="en-US" sz="800" b="0" i="0" u="none" strike="noStrike" cap="none" dirty="0" err="1">
                          <a:solidFill>
                            <a:srgbClr val="000000"/>
                          </a:solidFill>
                          <a:effectLst/>
                          <a:latin typeface="+mn-lt"/>
                          <a:ea typeface="+mn-ea"/>
                          <a:cs typeface="+mn-cs"/>
                          <a:sym typeface="Arial"/>
                        </a:rPr>
                        <a:t>chim</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syracuse</a:t>
                      </a:r>
                      <a:r>
                        <a:rPr lang="en-US" sz="800" b="0" i="0" u="none" strike="noStrike" cap="none" dirty="0">
                          <a:solidFill>
                            <a:srgbClr val="000000"/>
                          </a:solidFill>
                          <a:effectLst/>
                          <a:latin typeface="+mn-lt"/>
                          <a:ea typeface="+mn-ea"/>
                          <a:cs typeface="+mn-cs"/>
                          <a:sym typeface="Arial"/>
                        </a:rPr>
                        <a:t> </a:t>
                      </a:r>
                      <a:r>
                        <a:rPr lang="en-US" sz="800" b="0" i="0" u="none" strike="noStrike" cap="none" dirty="0" err="1">
                          <a:solidFill>
                            <a:srgbClr val="000000"/>
                          </a:solidFill>
                          <a:effectLst/>
                          <a:latin typeface="+mn-lt"/>
                          <a:ea typeface="+mn-ea"/>
                          <a:cs typeface="+mn-cs"/>
                          <a:sym typeface="Arial"/>
                        </a:rPr>
                        <a:t>volumnia</a:t>
                      </a:r>
                      <a:r>
                        <a:rPr lang="en-US" sz="800" b="0" i="0" u="none" strike="noStrike" cap="none" dirty="0">
                          <a:solidFill>
                            <a:srgbClr val="000000"/>
                          </a:solidFill>
                          <a:effectLst/>
                          <a:latin typeface="+mn-lt"/>
                          <a:ea typeface="+mn-ea"/>
                          <a:cs typeface="+mn-cs"/>
                          <a:sym typeface="Arial"/>
                        </a:rPr>
                        <a:t> : is the world, and my lord,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man, </a:t>
                      </a:r>
                      <a:r>
                        <a:rPr lang="en-US" sz="800" b="0" i="0" u="none" strike="noStrike" cap="none" dirty="0" err="1">
                          <a:solidFill>
                            <a:srgbClr val="000000"/>
                          </a:solidFill>
                          <a:effectLst/>
                          <a:latin typeface="+mn-lt"/>
                          <a:ea typeface="+mn-ea"/>
                          <a:cs typeface="+mn-cs"/>
                          <a:sym typeface="Arial"/>
                        </a:rPr>
                        <a:t>volumnia</a:t>
                      </a:r>
                      <a:r>
                        <a:rPr lang="en-US" sz="800" b="0" i="0" u="none" strike="noStrike" cap="none" dirty="0">
                          <a:solidFill>
                            <a:srgbClr val="000000"/>
                          </a:solidFill>
                          <a:effectLst/>
                          <a:latin typeface="+mn-lt"/>
                          <a:ea typeface="+mn-ea"/>
                          <a:cs typeface="+mn-cs"/>
                          <a:sym typeface="Arial"/>
                        </a:rPr>
                        <a:t> :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man,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man, </a:t>
                      </a:r>
                      <a:r>
                        <a:rPr lang="en-US" sz="800" b="0" i="0" u="none" strike="noStrike" cap="none" dirty="0" err="1">
                          <a:solidFill>
                            <a:srgbClr val="000000"/>
                          </a:solidFill>
                          <a:effectLst/>
                          <a:latin typeface="+mn-lt"/>
                          <a:ea typeface="+mn-ea"/>
                          <a:cs typeface="+mn-cs"/>
                          <a:sym typeface="Arial"/>
                        </a:rPr>
                        <a:t>volumnia</a:t>
                      </a:r>
                      <a:r>
                        <a:rPr lang="en-US" sz="800" b="0" i="0" u="none" strike="noStrike" cap="none" dirty="0">
                          <a:solidFill>
                            <a:srgbClr val="000000"/>
                          </a:solidFill>
                          <a:effectLst/>
                          <a:latin typeface="+mn-lt"/>
                          <a:ea typeface="+mn-ea"/>
                          <a:cs typeface="+mn-cs"/>
                          <a:sym typeface="Arial"/>
                        </a:rPr>
                        <a:t> :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man,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man, </a:t>
                      </a:r>
                      <a:r>
                        <a:rPr lang="en-US" sz="800" b="0" i="0" u="none" strike="noStrike" cap="none" dirty="0" err="1">
                          <a:solidFill>
                            <a:srgbClr val="000000"/>
                          </a:solidFill>
                          <a:effectLst/>
                          <a:latin typeface="+mn-lt"/>
                          <a:ea typeface="+mn-ea"/>
                          <a:cs typeface="+mn-cs"/>
                          <a:sym typeface="Arial"/>
                        </a:rPr>
                        <a:t>volumnia</a:t>
                      </a:r>
                      <a:r>
                        <a:rPr lang="en-US" sz="800" b="0" i="0" u="none" strike="noStrike" cap="none" dirty="0">
                          <a:solidFill>
                            <a:srgbClr val="000000"/>
                          </a:solidFill>
                          <a:effectLst/>
                          <a:latin typeface="+mn-lt"/>
                          <a:ea typeface="+mn-ea"/>
                          <a:cs typeface="+mn-cs"/>
                          <a:sym typeface="Arial"/>
                        </a:rPr>
                        <a:t> :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man,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man, </a:t>
                      </a:r>
                      <a:r>
                        <a:rPr lang="en-US" sz="800" b="0" i="0" u="none" strike="noStrike" cap="none" dirty="0" err="1">
                          <a:solidFill>
                            <a:srgbClr val="000000"/>
                          </a:solidFill>
                          <a:effectLst/>
                          <a:latin typeface="+mn-lt"/>
                          <a:ea typeface="+mn-ea"/>
                          <a:cs typeface="+mn-cs"/>
                          <a:sym typeface="Arial"/>
                        </a:rPr>
                        <a:t>volumnia</a:t>
                      </a:r>
                      <a:r>
                        <a:rPr lang="en-US" sz="800" b="0" i="0" u="none" strike="noStrike" cap="none" dirty="0">
                          <a:solidFill>
                            <a:srgbClr val="000000"/>
                          </a:solidFill>
                          <a:effectLst/>
                          <a:latin typeface="+mn-lt"/>
                          <a:ea typeface="+mn-ea"/>
                          <a:cs typeface="+mn-cs"/>
                          <a:sym typeface="Arial"/>
                        </a:rPr>
                        <a:t> :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man,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a:t>
                      </a:r>
                      <a:endParaRPr lang="en-US" sz="800" dirty="0">
                        <a:solidFill>
                          <a:srgbClr val="000000"/>
                        </a:solidFill>
                      </a:endParaRPr>
                    </a:p>
                  </a:txBody>
                  <a:tcPr/>
                </a:tc>
                <a:tc>
                  <a:txBody>
                    <a:bodyPr/>
                    <a:lstStyle/>
                    <a:p>
                      <a:r>
                        <a:rPr lang="en-US" sz="800" b="0" i="0" u="none" strike="noStrike" cap="none" dirty="0">
                          <a:solidFill>
                            <a:srgbClr val="000000"/>
                          </a:solidFill>
                          <a:effectLst/>
                          <a:latin typeface="+mn-lt"/>
                          <a:ea typeface="+mn-ea"/>
                          <a:cs typeface="+mn-cs"/>
                          <a:sym typeface="Arial"/>
                        </a:rPr>
                        <a:t>lord </a:t>
                      </a:r>
                      <a:r>
                        <a:rPr lang="en-US" sz="800" b="0" i="0" u="none" strike="noStrike" cap="none" dirty="0" err="1">
                          <a:solidFill>
                            <a:srgbClr val="000000"/>
                          </a:solidFill>
                          <a:effectLst/>
                          <a:latin typeface="+mn-lt"/>
                          <a:ea typeface="+mn-ea"/>
                          <a:cs typeface="+mn-cs"/>
                          <a:sym typeface="Arial"/>
                        </a:rPr>
                        <a:t>polonius</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am a man,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man,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lord </a:t>
                      </a:r>
                      <a:r>
                        <a:rPr lang="en-US" sz="800" b="0" i="0" u="none" strike="noStrike" cap="none" dirty="0" err="1">
                          <a:solidFill>
                            <a:srgbClr val="000000"/>
                          </a:solidFill>
                          <a:effectLst/>
                          <a:latin typeface="+mn-lt"/>
                          <a:ea typeface="+mn-ea"/>
                          <a:cs typeface="+mn-cs"/>
                          <a:sym typeface="Arial"/>
                        </a:rPr>
                        <a:t>polonius</a:t>
                      </a:r>
                      <a:r>
                        <a:rPr lang="en-US" sz="800" b="0" i="0" u="none" strike="noStrike" cap="none" dirty="0">
                          <a:solidFill>
                            <a:srgbClr val="000000"/>
                          </a:solidFill>
                          <a:effectLst/>
                          <a:latin typeface="+mn-lt"/>
                          <a:ea typeface="+mn-ea"/>
                          <a:cs typeface="+mn-cs"/>
                          <a:sym typeface="Arial"/>
                        </a:rPr>
                        <a:t> : ' tis not to me,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a man, lord </a:t>
                      </a:r>
                      <a:r>
                        <a:rPr lang="en-US" sz="800" b="0" i="0" u="none" strike="noStrike" cap="none" dirty="0" err="1">
                          <a:solidFill>
                            <a:srgbClr val="000000"/>
                          </a:solidFill>
                          <a:effectLst/>
                          <a:latin typeface="+mn-lt"/>
                          <a:ea typeface="+mn-ea"/>
                          <a:cs typeface="+mn-cs"/>
                          <a:sym typeface="Arial"/>
                        </a:rPr>
                        <a:t>polonius</a:t>
                      </a:r>
                      <a:r>
                        <a:rPr lang="en-US" sz="800" b="0" i="0" u="none" strike="noStrike" cap="none" dirty="0">
                          <a:solidFill>
                            <a:srgbClr val="000000"/>
                          </a:solidFill>
                          <a:effectLst/>
                          <a:latin typeface="+mn-lt"/>
                          <a:ea typeface="+mn-ea"/>
                          <a:cs typeface="+mn-cs"/>
                          <a:sym typeface="Arial"/>
                        </a:rPr>
                        <a:t> : and,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to me,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will not lord </a:t>
                      </a:r>
                      <a:r>
                        <a:rPr lang="en-US" sz="800" b="0" i="0" u="none" strike="noStrike" cap="none" dirty="0" err="1">
                          <a:solidFill>
                            <a:srgbClr val="000000"/>
                          </a:solidFill>
                          <a:effectLst/>
                          <a:latin typeface="+mn-lt"/>
                          <a:ea typeface="+mn-ea"/>
                          <a:cs typeface="+mn-cs"/>
                          <a:sym typeface="Arial"/>
                        </a:rPr>
                        <a:t>polonius</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am a man,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will not not not speak, lord </a:t>
                      </a:r>
                      <a:r>
                        <a:rPr lang="en-US" sz="800" b="0" i="0" u="none" strike="noStrike" cap="none" dirty="0" err="1">
                          <a:solidFill>
                            <a:srgbClr val="000000"/>
                          </a:solidFill>
                          <a:effectLst/>
                          <a:latin typeface="+mn-lt"/>
                          <a:ea typeface="+mn-ea"/>
                          <a:cs typeface="+mn-cs"/>
                          <a:sym typeface="Arial"/>
                        </a:rPr>
                        <a:t>polonius</a:t>
                      </a:r>
                      <a:r>
                        <a:rPr lang="en-US" sz="800" b="0" i="0" u="none" strike="noStrike" cap="none" dirty="0">
                          <a:solidFill>
                            <a:srgbClr val="000000"/>
                          </a:solidFill>
                          <a:effectLst/>
                          <a:latin typeface="+mn-lt"/>
                          <a:ea typeface="+mn-ea"/>
                          <a:cs typeface="+mn-cs"/>
                          <a:sym typeface="Arial"/>
                        </a:rPr>
                        <a:t> : and,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ll</a:t>
                      </a:r>
                      <a:r>
                        <a:rPr lang="en-US" sz="800" b="0" i="0" u="none" strike="noStrike" cap="none" dirty="0">
                          <a:solidFill>
                            <a:srgbClr val="000000"/>
                          </a:solidFill>
                          <a:effectLst/>
                          <a:latin typeface="+mn-lt"/>
                          <a:ea typeface="+mn-ea"/>
                          <a:cs typeface="+mn-cs"/>
                          <a:sym typeface="Arial"/>
                        </a:rPr>
                        <a:t> be to me, and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will not lord </a:t>
                      </a:r>
                      <a:r>
                        <a:rPr lang="en-US" sz="800" b="0" i="0" u="none" strike="noStrike" cap="none" dirty="0" err="1">
                          <a:solidFill>
                            <a:srgbClr val="000000"/>
                          </a:solidFill>
                          <a:effectLst/>
                          <a:latin typeface="+mn-lt"/>
                          <a:ea typeface="+mn-ea"/>
                          <a:cs typeface="+mn-cs"/>
                          <a:sym typeface="Arial"/>
                        </a:rPr>
                        <a:t>polonius</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am a man, and</a:t>
                      </a:r>
                      <a:endParaRPr lang="en-US" sz="800" dirty="0">
                        <a:solidFill>
                          <a:srgbClr val="000000"/>
                        </a:solidFill>
                      </a:endParaRPr>
                    </a:p>
                  </a:txBody>
                  <a:tcPr/>
                </a:tc>
                <a:extLst>
                  <a:ext uri="{0D108BD9-81ED-4DB2-BD59-A6C34878D82A}">
                    <a16:rowId xmlns:a16="http://schemas.microsoft.com/office/drawing/2014/main" val="3453040792"/>
                  </a:ext>
                </a:extLst>
              </a:tr>
              <a:tr h="115860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EF6C00"/>
                          </a:solidFill>
                          <a:effectLst/>
                          <a:uLnTx/>
                          <a:uFillTx/>
                          <a:latin typeface="Courier New"/>
                          <a:ea typeface="Courier New"/>
                          <a:cs typeface="Courier New"/>
                          <a:sym typeface="Courier New"/>
                        </a:rPr>
                        <a:t>True</a:t>
                      </a:r>
                      <a:endParaRPr lang="en-US" sz="1400" dirty="0"/>
                    </a:p>
                  </a:txBody>
                  <a:tcPr anchor="ctr"/>
                </a:tc>
                <a:tc>
                  <a:txBody>
                    <a:bodyPr/>
                    <a:lstStyle/>
                    <a:p>
                      <a:r>
                        <a:rPr lang="en-US" sz="800" b="0" i="0" u="none" strike="noStrike" cap="none" dirty="0">
                          <a:solidFill>
                            <a:srgbClr val="000000"/>
                          </a:solidFill>
                          <a:effectLst/>
                          <a:latin typeface="+mn-lt"/>
                          <a:ea typeface="+mn-ea"/>
                          <a:cs typeface="+mn-cs"/>
                          <a:sym typeface="Arial"/>
                        </a:rPr>
                        <a:t>bottom : is to have reverenced heard, sir, </a:t>
                      </a:r>
                      <a:r>
                        <a:rPr lang="en-US" sz="800" b="0" i="0" u="none" strike="noStrike" cap="none" dirty="0" err="1">
                          <a:solidFill>
                            <a:srgbClr val="000000"/>
                          </a:solidFill>
                          <a:effectLst/>
                          <a:latin typeface="+mn-lt"/>
                          <a:ea typeface="+mn-ea"/>
                          <a:cs typeface="+mn-cs"/>
                          <a:sym typeface="Arial"/>
                        </a:rPr>
                        <a:t>aufidius</a:t>
                      </a:r>
                      <a:r>
                        <a:rPr lang="en-US" sz="800" b="0" i="0" u="none" strike="noStrike" cap="none" dirty="0">
                          <a:solidFill>
                            <a:srgbClr val="000000"/>
                          </a:solidFill>
                          <a:effectLst/>
                          <a:latin typeface="+mn-lt"/>
                          <a:ea typeface="+mn-ea"/>
                          <a:cs typeface="+mn-cs"/>
                          <a:sym typeface="Arial"/>
                        </a:rPr>
                        <a:t> : to the bauble? all, good lady, this. first senator : so speaks, do not speak maid : whose heard first senator :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are bound much than those? </a:t>
                      </a:r>
                      <a:r>
                        <a:rPr lang="en-US" sz="800" b="0" i="0" u="none" strike="noStrike" cap="none" dirty="0" err="1">
                          <a:solidFill>
                            <a:srgbClr val="000000"/>
                          </a:solidFill>
                          <a:effectLst/>
                          <a:latin typeface="+mn-lt"/>
                          <a:ea typeface="+mn-ea"/>
                          <a:cs typeface="+mn-cs"/>
                          <a:sym typeface="Arial"/>
                        </a:rPr>
                        <a:t>edmund</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tangstragaf</a:t>
                      </a:r>
                      <a:r>
                        <a:rPr lang="en-US" sz="800" b="0" i="0" u="none" strike="noStrike" cap="none" dirty="0">
                          <a:solidFill>
                            <a:srgbClr val="000000"/>
                          </a:solidFill>
                          <a:effectLst/>
                          <a:latin typeface="+mn-lt"/>
                          <a:ea typeface="+mn-ea"/>
                          <a:cs typeface="+mn-cs"/>
                          <a:sym typeface="Arial"/>
                        </a:rPr>
                        <a:t> men, </a:t>
                      </a:r>
                      <a:r>
                        <a:rPr lang="en-US" sz="800" b="0" i="0" u="none" strike="noStrike" cap="none" dirty="0" err="1">
                          <a:solidFill>
                            <a:srgbClr val="000000"/>
                          </a:solidFill>
                          <a:effectLst/>
                          <a:latin typeface="+mn-lt"/>
                          <a:ea typeface="+mn-ea"/>
                          <a:cs typeface="+mn-cs"/>
                          <a:sym typeface="Arial"/>
                        </a:rPr>
                        <a:t>belarius</a:t>
                      </a:r>
                      <a:r>
                        <a:rPr lang="en-US" sz="800" b="0" i="0" u="none" strike="noStrike" cap="none" dirty="0">
                          <a:solidFill>
                            <a:srgbClr val="000000"/>
                          </a:solidFill>
                          <a:effectLst/>
                          <a:latin typeface="+mn-lt"/>
                          <a:ea typeface="+mn-ea"/>
                          <a:cs typeface="+mn-cs"/>
                          <a:sym typeface="Arial"/>
                        </a:rPr>
                        <a:t> : he were acquainted to hector : be for my necessity : two thing, </a:t>
                      </a:r>
                      <a:r>
                        <a:rPr lang="en-US" sz="800" b="0" i="0" u="none" strike="noStrike" cap="none" dirty="0" err="1">
                          <a:solidFill>
                            <a:srgbClr val="000000"/>
                          </a:solidFill>
                          <a:effectLst/>
                          <a:latin typeface="+mn-lt"/>
                          <a:ea typeface="+mn-ea"/>
                          <a:cs typeface="+mn-cs"/>
                          <a:sym typeface="Arial"/>
                        </a:rPr>
                        <a:t>imogen</a:t>
                      </a:r>
                      <a:r>
                        <a:rPr lang="en-US" sz="800" b="0" i="0" u="none" strike="noStrike" cap="none" dirty="0">
                          <a:solidFill>
                            <a:srgbClr val="000000"/>
                          </a:solidFill>
                          <a:effectLst/>
                          <a:latin typeface="+mn-lt"/>
                          <a:ea typeface="+mn-ea"/>
                          <a:cs typeface="+mn-cs"/>
                          <a:sym typeface="Arial"/>
                        </a:rPr>
                        <a:t> : expected, come hither, oft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speaks. hamlet : hark,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tell my curse, </a:t>
                      </a:r>
                      <a:br>
                        <a:rPr lang="en-US" sz="800" dirty="0">
                          <a:solidFill>
                            <a:srgbClr val="000000"/>
                          </a:solidFill>
                        </a:rPr>
                      </a:br>
                      <a:endParaRPr lang="en-US" sz="800" dirty="0">
                        <a:solidFill>
                          <a:srgbClr val="000000"/>
                        </a:solidFill>
                      </a:endParaRPr>
                    </a:p>
                  </a:txBody>
                  <a:tcPr/>
                </a:tc>
                <a:tc>
                  <a:txBody>
                    <a:bodyPr/>
                    <a:lstStyle/>
                    <a:p>
                      <a:r>
                        <a:rPr lang="en-US" sz="800" b="0" i="0" u="none" strike="noStrike" cap="none" dirty="0" err="1">
                          <a:solidFill>
                            <a:srgbClr val="000000"/>
                          </a:solidFill>
                          <a:effectLst/>
                          <a:latin typeface="+mn-lt"/>
                          <a:ea typeface="+mn-ea"/>
                          <a:cs typeface="+mn-cs"/>
                          <a:sym typeface="Arial"/>
                        </a:rPr>
                        <a:t>lorraine</a:t>
                      </a:r>
                      <a:r>
                        <a:rPr lang="en-US" sz="800" b="0" i="0" u="none" strike="noStrike" cap="none" dirty="0">
                          <a:solidFill>
                            <a:srgbClr val="000000"/>
                          </a:solidFill>
                          <a:effectLst/>
                          <a:latin typeface="+mn-lt"/>
                          <a:ea typeface="+mn-ea"/>
                          <a:cs typeface="+mn-cs"/>
                          <a:sym typeface="Arial"/>
                        </a:rPr>
                        <a:t>. basset </a:t>
                      </a:r>
                      <a:r>
                        <a:rPr lang="en-US" sz="800" b="0" i="0" u="none" strike="noStrike" cap="none" dirty="0" err="1">
                          <a:solidFill>
                            <a:srgbClr val="000000"/>
                          </a:solidFill>
                          <a:effectLst/>
                          <a:latin typeface="+mn-lt"/>
                          <a:ea typeface="+mn-ea"/>
                          <a:cs typeface="+mn-cs"/>
                          <a:sym typeface="Arial"/>
                        </a:rPr>
                        <a:t>chim</a:t>
                      </a:r>
                      <a:r>
                        <a:rPr lang="en-US" sz="800" b="0" i="0" u="none" strike="noStrike" cap="none" dirty="0">
                          <a:solidFill>
                            <a:srgbClr val="000000"/>
                          </a:solidFill>
                          <a:effectLst/>
                          <a:latin typeface="+mn-lt"/>
                          <a:ea typeface="+mn-ea"/>
                          <a:cs typeface="+mn-cs"/>
                          <a:sym typeface="Arial"/>
                        </a:rPr>
                        <a:t> </a:t>
                      </a:r>
                      <a:r>
                        <a:rPr lang="en-US" sz="800" b="0" i="0" u="none" strike="noStrike" cap="none" dirty="0" err="1">
                          <a:solidFill>
                            <a:srgbClr val="000000"/>
                          </a:solidFill>
                          <a:effectLst/>
                          <a:latin typeface="+mn-lt"/>
                          <a:ea typeface="+mn-ea"/>
                          <a:cs typeface="+mn-cs"/>
                          <a:sym typeface="Arial"/>
                        </a:rPr>
                        <a:t>chim</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moi</a:t>
                      </a:r>
                      <a:r>
                        <a:rPr lang="en-US" sz="800" b="0" i="0" u="none" strike="noStrike" cap="none" dirty="0">
                          <a:solidFill>
                            <a:srgbClr val="000000"/>
                          </a:solidFill>
                          <a:effectLst/>
                          <a:latin typeface="+mn-lt"/>
                          <a:ea typeface="+mn-ea"/>
                          <a:cs typeface="+mn-cs"/>
                          <a:sym typeface="Arial"/>
                        </a:rPr>
                        <a:t>! snout : sooner, que daughter doth </a:t>
                      </a:r>
                      <a:r>
                        <a:rPr lang="en-US" sz="800" b="0" i="0" u="none" strike="noStrike" cap="none" dirty="0" err="1">
                          <a:solidFill>
                            <a:srgbClr val="000000"/>
                          </a:solidFill>
                          <a:effectLst/>
                          <a:latin typeface="+mn-lt"/>
                          <a:ea typeface="+mn-ea"/>
                          <a:cs typeface="+mn-cs"/>
                          <a:sym typeface="Arial"/>
                        </a:rPr>
                        <a:t>cymbeline</a:t>
                      </a:r>
                      <a:r>
                        <a:rPr lang="en-US" sz="800" b="0" i="0" u="none" strike="noStrike" cap="none" dirty="0">
                          <a:solidFill>
                            <a:srgbClr val="000000"/>
                          </a:solidFill>
                          <a:effectLst/>
                          <a:latin typeface="+mn-lt"/>
                          <a:ea typeface="+mn-ea"/>
                          <a:cs typeface="+mn-cs"/>
                          <a:sym typeface="Arial"/>
                        </a:rPr>
                        <a:t> ' s an knowledge ' s old </a:t>
                      </a:r>
                      <a:r>
                        <a:rPr lang="en-US" sz="800" b="0" i="0" u="none" strike="noStrike" cap="none" dirty="0" err="1">
                          <a:solidFill>
                            <a:srgbClr val="000000"/>
                          </a:solidFill>
                          <a:effectLst/>
                          <a:latin typeface="+mn-lt"/>
                          <a:ea typeface="+mn-ea"/>
                          <a:cs typeface="+mn-cs"/>
                          <a:sym typeface="Arial"/>
                        </a:rPr>
                        <a:t>othello</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dian</a:t>
                      </a:r>
                      <a:r>
                        <a:rPr lang="en-US" sz="800" b="0" i="0" u="none" strike="noStrike" cap="none" dirty="0">
                          <a:solidFill>
                            <a:srgbClr val="000000"/>
                          </a:solidFill>
                          <a:effectLst/>
                          <a:latin typeface="+mn-lt"/>
                          <a:ea typeface="+mn-ea"/>
                          <a:cs typeface="+mn-cs"/>
                          <a:sym typeface="Arial"/>
                        </a:rPr>
                        <a:t> adder, policy, it as bombast or stick it! </a:t>
                      </a:r>
                      <a:r>
                        <a:rPr lang="en-US" sz="800" b="0" i="0" u="none" strike="noStrike" cap="none" dirty="0" err="1">
                          <a:solidFill>
                            <a:srgbClr val="000000"/>
                          </a:solidFill>
                          <a:effectLst/>
                          <a:latin typeface="+mn-lt"/>
                          <a:ea typeface="+mn-ea"/>
                          <a:cs typeface="+mn-cs"/>
                          <a:sym typeface="Arial"/>
                        </a:rPr>
                        <a:t>posthumus</a:t>
                      </a:r>
                      <a:r>
                        <a:rPr lang="en-US" sz="800" b="0" i="0" u="none" strike="noStrike" cap="none" dirty="0">
                          <a:solidFill>
                            <a:srgbClr val="000000"/>
                          </a:solidFill>
                          <a:effectLst/>
                          <a:latin typeface="+mn-lt"/>
                          <a:ea typeface="+mn-ea"/>
                          <a:cs typeface="+mn-cs"/>
                          <a:sym typeface="Arial"/>
                        </a:rPr>
                        <a:t> </a:t>
                      </a:r>
                      <a:r>
                        <a:rPr lang="en-US" sz="800" b="0" i="0" u="none" strike="noStrike" cap="none" dirty="0" err="1">
                          <a:solidFill>
                            <a:srgbClr val="000000"/>
                          </a:solidFill>
                          <a:effectLst/>
                          <a:latin typeface="+mn-lt"/>
                          <a:ea typeface="+mn-ea"/>
                          <a:cs typeface="+mn-cs"/>
                          <a:sym typeface="Arial"/>
                        </a:rPr>
                        <a:t>leonatus</a:t>
                      </a:r>
                      <a:r>
                        <a:rPr lang="en-US" sz="800" b="0" i="0" u="none" strike="noStrike" cap="none" dirty="0">
                          <a:solidFill>
                            <a:srgbClr val="000000"/>
                          </a:solidFill>
                          <a:effectLst/>
                          <a:latin typeface="+mn-lt"/>
                          <a:ea typeface="+mn-ea"/>
                          <a:cs typeface="+mn-cs"/>
                          <a:sym typeface="Arial"/>
                        </a:rPr>
                        <a:t> : not where it! mistress page : it is good. </a:t>
                      </a:r>
                      <a:r>
                        <a:rPr lang="en-US" sz="800" b="0" i="0" u="none" strike="noStrike" cap="none" dirty="0" err="1">
                          <a:solidFill>
                            <a:srgbClr val="000000"/>
                          </a:solidFill>
                          <a:effectLst/>
                          <a:latin typeface="+mn-lt"/>
                          <a:ea typeface="+mn-ea"/>
                          <a:cs typeface="+mn-cs"/>
                          <a:sym typeface="Arial"/>
                        </a:rPr>
                        <a:t>volumnia</a:t>
                      </a:r>
                      <a:r>
                        <a:rPr lang="en-US" sz="800" b="0" i="0" u="none" strike="noStrike" cap="none" dirty="0">
                          <a:solidFill>
                            <a:srgbClr val="000000"/>
                          </a:solidFill>
                          <a:effectLst/>
                          <a:latin typeface="+mn-lt"/>
                          <a:ea typeface="+mn-ea"/>
                          <a:cs typeface="+mn-cs"/>
                          <a:sym typeface="Arial"/>
                        </a:rPr>
                        <a:t> : [ aside ] </a:t>
                      </a:r>
                      <a:r>
                        <a:rPr lang="en-US" sz="800" b="0" i="0" u="none" strike="noStrike" cap="none" dirty="0" err="1">
                          <a:solidFill>
                            <a:srgbClr val="000000"/>
                          </a:solidFill>
                          <a:effectLst/>
                          <a:latin typeface="+mn-lt"/>
                          <a:ea typeface="+mn-ea"/>
                          <a:cs typeface="+mn-cs"/>
                          <a:sym typeface="Arial"/>
                        </a:rPr>
                        <a:t>antipholus</a:t>
                      </a:r>
                      <a:r>
                        <a:rPr lang="en-US" sz="800" b="0" i="0" u="none" strike="noStrike" cap="none" dirty="0">
                          <a:solidFill>
                            <a:srgbClr val="000000"/>
                          </a:solidFill>
                          <a:effectLst/>
                          <a:latin typeface="+mn-lt"/>
                          <a:ea typeface="+mn-ea"/>
                          <a:cs typeface="+mn-cs"/>
                          <a:sym typeface="Arial"/>
                        </a:rPr>
                        <a:t>, faith, </a:t>
                      </a:r>
                      <a:r>
                        <a:rPr lang="en-US" sz="800" b="0" i="0" u="none" strike="noStrike" cap="none" dirty="0" err="1">
                          <a:solidFill>
                            <a:srgbClr val="000000"/>
                          </a:solidFill>
                          <a:effectLst/>
                          <a:latin typeface="+mn-lt"/>
                          <a:ea typeface="+mn-ea"/>
                          <a:cs typeface="+mn-cs"/>
                          <a:sym typeface="Arial"/>
                        </a:rPr>
                        <a:t>cominius</a:t>
                      </a:r>
                      <a:r>
                        <a:rPr lang="en-US" sz="800" b="0" i="0" u="none" strike="noStrike" cap="none" dirty="0">
                          <a:solidFill>
                            <a:srgbClr val="000000"/>
                          </a:solidFill>
                          <a:effectLst/>
                          <a:latin typeface="+mn-lt"/>
                          <a:ea typeface="+mn-ea"/>
                          <a:cs typeface="+mn-cs"/>
                          <a:sym typeface="Arial"/>
                        </a:rPr>
                        <a:t> : undertake thou do, if afeard it ghost, </a:t>
                      </a:r>
                      <a:r>
                        <a:rPr lang="en-US" sz="800" b="0" i="0" u="none" strike="noStrike" cap="none" dirty="0" err="1">
                          <a:solidFill>
                            <a:srgbClr val="000000"/>
                          </a:solidFill>
                          <a:effectLst/>
                          <a:latin typeface="+mn-lt"/>
                          <a:ea typeface="+mn-ea"/>
                          <a:cs typeface="+mn-cs"/>
                          <a:sym typeface="Arial"/>
                        </a:rPr>
                        <a:t>pandarus</a:t>
                      </a:r>
                      <a:r>
                        <a:rPr lang="en-US" sz="800" b="0" i="0" u="none" strike="noStrike" cap="none" dirty="0">
                          <a:solidFill>
                            <a:srgbClr val="000000"/>
                          </a:solidFill>
                          <a:effectLst/>
                          <a:latin typeface="+mn-lt"/>
                          <a:ea typeface="+mn-ea"/>
                          <a:cs typeface="+mn-cs"/>
                          <a:sym typeface="Arial"/>
                        </a:rPr>
                        <a:t> : when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be brought thither. bawd :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wake :' od ' s chance against it, and</a:t>
                      </a:r>
                      <a:endParaRPr lang="en-US" sz="800" dirty="0">
                        <a:solidFill>
                          <a:srgbClr val="000000"/>
                        </a:solidFill>
                      </a:endParaRPr>
                    </a:p>
                  </a:txBody>
                  <a:tcPr/>
                </a:tc>
                <a:tc>
                  <a:txBody>
                    <a:bodyPr/>
                    <a:lstStyle/>
                    <a:p>
                      <a:r>
                        <a:rPr lang="en-US" sz="800" b="0" i="0" u="none" strike="noStrike" cap="none" dirty="0">
                          <a:solidFill>
                            <a:srgbClr val="000000"/>
                          </a:solidFill>
                          <a:effectLst/>
                          <a:latin typeface="+mn-lt"/>
                          <a:ea typeface="+mn-ea"/>
                          <a:cs typeface="+mn-cs"/>
                          <a:sym typeface="Arial"/>
                        </a:rPr>
                        <a:t>wounding </a:t>
                      </a:r>
                      <a:r>
                        <a:rPr lang="en-US" sz="800" b="0" i="0" u="none" strike="noStrike" cap="none" dirty="0" err="1">
                          <a:solidFill>
                            <a:srgbClr val="000000"/>
                          </a:solidFill>
                          <a:effectLst/>
                          <a:latin typeface="+mn-lt"/>
                          <a:ea typeface="+mn-ea"/>
                          <a:cs typeface="+mn-cs"/>
                          <a:sym typeface="Arial"/>
                        </a:rPr>
                        <a:t>andronicus</a:t>
                      </a:r>
                      <a:r>
                        <a:rPr lang="en-US" sz="800" b="0" i="0" u="none" strike="noStrike" cap="none" dirty="0">
                          <a:solidFill>
                            <a:srgbClr val="000000"/>
                          </a:solidFill>
                          <a:effectLst/>
                          <a:latin typeface="+mn-lt"/>
                          <a:ea typeface="+mn-ea"/>
                          <a:cs typeface="+mn-cs"/>
                          <a:sym typeface="Arial"/>
                        </a:rPr>
                        <a:t> : what fear thou bring a whit a chamber on </a:t>
                      </a:r>
                      <a:r>
                        <a:rPr lang="en-US" sz="800" b="0" i="0" u="none" strike="noStrike" cap="none" dirty="0" err="1">
                          <a:solidFill>
                            <a:srgbClr val="000000"/>
                          </a:solidFill>
                          <a:effectLst/>
                          <a:latin typeface="+mn-lt"/>
                          <a:ea typeface="+mn-ea"/>
                          <a:cs typeface="+mn-cs"/>
                          <a:sym typeface="Arial"/>
                        </a:rPr>
                        <a:t>pucelle</a:t>
                      </a:r>
                      <a:r>
                        <a:rPr lang="en-US" sz="800" b="0" i="0" u="none" strike="noStrike" cap="none" dirty="0">
                          <a:solidFill>
                            <a:srgbClr val="000000"/>
                          </a:solidFill>
                          <a:effectLst/>
                          <a:latin typeface="+mn-lt"/>
                          <a:ea typeface="+mn-ea"/>
                          <a:cs typeface="+mn-cs"/>
                          <a:sym typeface="Arial"/>
                        </a:rPr>
                        <a:t> : by each, happily shot here, the </a:t>
                      </a:r>
                      <a:r>
                        <a:rPr lang="en-US" sz="800" b="0" i="0" u="none" strike="noStrike" cap="none" dirty="0" err="1">
                          <a:solidFill>
                            <a:srgbClr val="000000"/>
                          </a:solidFill>
                          <a:effectLst/>
                          <a:latin typeface="+mn-lt"/>
                          <a:ea typeface="+mn-ea"/>
                          <a:cs typeface="+mn-cs"/>
                          <a:sym typeface="Arial"/>
                        </a:rPr>
                        <a:t>unsat</a:t>
                      </a:r>
                      <a:r>
                        <a:rPr lang="en-US" sz="800" b="0" i="0" u="none" strike="noStrike" cap="none" dirty="0">
                          <a:solidFill>
                            <a:srgbClr val="000000"/>
                          </a:solidFill>
                          <a:effectLst/>
                          <a:latin typeface="+mn-lt"/>
                          <a:ea typeface="+mn-ea"/>
                          <a:cs typeface="+mn-cs"/>
                          <a:sym typeface="Arial"/>
                        </a:rPr>
                        <a:t> virginal </a:t>
                      </a:r>
                      <a:r>
                        <a:rPr lang="en-US" sz="800" b="0" i="0" u="none" strike="noStrike" cap="none" dirty="0" err="1">
                          <a:solidFill>
                            <a:srgbClr val="000000"/>
                          </a:solidFill>
                          <a:effectLst/>
                          <a:latin typeface="+mn-lt"/>
                          <a:ea typeface="+mn-ea"/>
                          <a:cs typeface="+mn-cs"/>
                          <a:sym typeface="Arial"/>
                        </a:rPr>
                        <a:t>gloucester</a:t>
                      </a:r>
                      <a:r>
                        <a:rPr lang="en-US" sz="800" b="0" i="0" u="none" strike="noStrike" cap="none" dirty="0">
                          <a:solidFill>
                            <a:srgbClr val="000000"/>
                          </a:solidFill>
                          <a:effectLst/>
                          <a:latin typeface="+mn-lt"/>
                          <a:ea typeface="+mn-ea"/>
                          <a:cs typeface="+mn-cs"/>
                          <a:sym typeface="Arial"/>
                        </a:rPr>
                        <a:t>, </a:t>
                      </a:r>
                      <a:r>
                        <a:rPr lang="en-US" sz="800" b="0" i="0" u="none" strike="noStrike" cap="none" dirty="0" err="1">
                          <a:solidFill>
                            <a:srgbClr val="000000"/>
                          </a:solidFill>
                          <a:effectLst/>
                          <a:latin typeface="+mn-lt"/>
                          <a:ea typeface="+mn-ea"/>
                          <a:cs typeface="+mn-cs"/>
                          <a:sym typeface="Arial"/>
                        </a:rPr>
                        <a:t>capulet</a:t>
                      </a:r>
                      <a:r>
                        <a:rPr lang="en-US" sz="800" b="0" i="0" u="none" strike="noStrike" cap="none" dirty="0">
                          <a:solidFill>
                            <a:srgbClr val="000000"/>
                          </a:solidFill>
                          <a:effectLst/>
                          <a:latin typeface="+mn-lt"/>
                          <a:ea typeface="+mn-ea"/>
                          <a:cs typeface="+mn-cs"/>
                          <a:sym typeface="Arial"/>
                        </a:rPr>
                        <a:t> : like their eyes is cold and poisonous. narrator : exit narrator : scene ii., thy wiving, and they, guarded narrator : enter </a:t>
                      </a:r>
                      <a:r>
                        <a:rPr lang="en-US" sz="800" b="0" i="0" u="none" strike="noStrike" cap="none" dirty="0" err="1">
                          <a:solidFill>
                            <a:srgbClr val="000000"/>
                          </a:solidFill>
                          <a:effectLst/>
                          <a:latin typeface="+mn-lt"/>
                          <a:ea typeface="+mn-ea"/>
                          <a:cs typeface="+mn-cs"/>
                          <a:sym typeface="Arial"/>
                        </a:rPr>
                        <a:t>helena</a:t>
                      </a:r>
                      <a:r>
                        <a:rPr lang="en-US" sz="800" b="0" i="0" u="none" strike="noStrike" cap="none" dirty="0">
                          <a:solidFill>
                            <a:srgbClr val="000000"/>
                          </a:solidFill>
                          <a:effectLst/>
                          <a:latin typeface="+mn-lt"/>
                          <a:ea typeface="+mn-ea"/>
                          <a:cs typeface="+mn-cs"/>
                          <a:sym typeface="Arial"/>
                        </a:rPr>
                        <a:t>, of the most screech, and enter six </a:t>
                      </a:r>
                      <a:r>
                        <a:rPr lang="en-US" sz="800" b="0" i="0" u="none" strike="noStrike" cap="none" dirty="0" err="1">
                          <a:solidFill>
                            <a:srgbClr val="000000"/>
                          </a:solidFill>
                          <a:effectLst/>
                          <a:latin typeface="+mn-lt"/>
                          <a:ea typeface="+mn-ea"/>
                          <a:cs typeface="+mn-cs"/>
                          <a:sym typeface="Arial"/>
                        </a:rPr>
                        <a:t>clipt</a:t>
                      </a:r>
                      <a:r>
                        <a:rPr lang="en-US" sz="800" b="0" i="0" u="none" strike="noStrike" cap="none" dirty="0">
                          <a:solidFill>
                            <a:srgbClr val="000000"/>
                          </a:solidFill>
                          <a:effectLst/>
                          <a:latin typeface="+mn-lt"/>
                          <a:ea typeface="+mn-ea"/>
                          <a:cs typeface="+mn-cs"/>
                          <a:sym typeface="Arial"/>
                        </a:rPr>
                        <a:t> looks above </a:t>
                      </a:r>
                      <a:r>
                        <a:rPr lang="en-US" sz="800" b="0" i="0" u="none" strike="noStrike" cap="none" dirty="0" err="1">
                          <a:solidFill>
                            <a:srgbClr val="000000"/>
                          </a:solidFill>
                          <a:effectLst/>
                          <a:latin typeface="+mn-lt"/>
                          <a:ea typeface="+mn-ea"/>
                          <a:cs typeface="+mn-cs"/>
                          <a:sym typeface="Arial"/>
                        </a:rPr>
                        <a:t>lafeu</a:t>
                      </a:r>
                      <a:r>
                        <a:rPr lang="en-US" sz="800" b="0" i="0" u="none" strike="noStrike" cap="none" dirty="0">
                          <a:solidFill>
                            <a:srgbClr val="000000"/>
                          </a:solidFill>
                          <a:effectLst/>
                          <a:latin typeface="+mn-lt"/>
                          <a:ea typeface="+mn-ea"/>
                          <a:cs typeface="+mn-cs"/>
                          <a:sym typeface="Arial"/>
                        </a:rPr>
                        <a:t> : </a:t>
                      </a:r>
                      <a:r>
                        <a:rPr lang="en-US" sz="800" b="0" i="0" u="none" strike="noStrike" cap="none" dirty="0" err="1">
                          <a:solidFill>
                            <a:srgbClr val="000000"/>
                          </a:solidFill>
                          <a:effectLst/>
                          <a:latin typeface="+mn-lt"/>
                          <a:ea typeface="+mn-ea"/>
                          <a:cs typeface="+mn-cs"/>
                          <a:sym typeface="Arial"/>
                        </a:rPr>
                        <a:t>wellels</a:t>
                      </a:r>
                      <a:r>
                        <a:rPr lang="en-US" sz="800" b="0" i="0" u="none" strike="noStrike" cap="none" dirty="0">
                          <a:solidFill>
                            <a:srgbClr val="000000"/>
                          </a:solidFill>
                          <a:effectLst/>
                          <a:latin typeface="+mn-lt"/>
                          <a:ea typeface="+mn-ea"/>
                          <a:cs typeface="+mn-cs"/>
                          <a:sym typeface="Arial"/>
                        </a:rPr>
                        <a:t>, </a:t>
                      </a:r>
                      <a:r>
                        <a:rPr lang="en-US" sz="800" b="0" i="0" u="none" strike="noStrike" cap="none" dirty="0" err="1">
                          <a:solidFill>
                            <a:srgbClr val="000000"/>
                          </a:solidFill>
                          <a:effectLst/>
                          <a:latin typeface="+mn-lt"/>
                          <a:ea typeface="+mn-ea"/>
                          <a:cs typeface="+mn-cs"/>
                          <a:sym typeface="Arial"/>
                        </a:rPr>
                        <a:t>i</a:t>
                      </a:r>
                      <a:r>
                        <a:rPr lang="en-US" sz="800" b="0" i="0" u="none" strike="noStrike" cap="none" dirty="0">
                          <a:solidFill>
                            <a:srgbClr val="000000"/>
                          </a:solidFill>
                          <a:effectLst/>
                          <a:latin typeface="+mn-lt"/>
                          <a:ea typeface="+mn-ea"/>
                          <a:cs typeface="+mn-cs"/>
                          <a:sym typeface="Arial"/>
                        </a:rPr>
                        <a:t> mean royal when they deny keeping </a:t>
                      </a:r>
                      <a:r>
                        <a:rPr lang="en-US" sz="800" b="0" i="0" u="none" strike="noStrike" cap="none" dirty="0" err="1">
                          <a:solidFill>
                            <a:srgbClr val="000000"/>
                          </a:solidFill>
                          <a:effectLst/>
                          <a:latin typeface="+mn-lt"/>
                          <a:ea typeface="+mn-ea"/>
                          <a:cs typeface="+mn-cs"/>
                          <a:sym typeface="Arial"/>
                        </a:rPr>
                        <a:t>lucentio</a:t>
                      </a:r>
                      <a:r>
                        <a:rPr lang="en-US" sz="800" b="0" i="0" u="none" strike="noStrike" cap="none" dirty="0">
                          <a:solidFill>
                            <a:srgbClr val="000000"/>
                          </a:solidFill>
                          <a:effectLst/>
                          <a:latin typeface="+mn-lt"/>
                          <a:ea typeface="+mn-ea"/>
                          <a:cs typeface="+mn-cs"/>
                          <a:sym typeface="Arial"/>
                        </a:rPr>
                        <a:t> : as my true rude of the perfect piteous</a:t>
                      </a:r>
                      <a:endParaRPr lang="en-US" sz="800" dirty="0">
                        <a:solidFill>
                          <a:srgbClr val="000000"/>
                        </a:solidFill>
                      </a:endParaRPr>
                    </a:p>
                  </a:txBody>
                  <a:tcPr/>
                </a:tc>
                <a:extLst>
                  <a:ext uri="{0D108BD9-81ED-4DB2-BD59-A6C34878D82A}">
                    <a16:rowId xmlns:a16="http://schemas.microsoft.com/office/drawing/2014/main" val="3176353543"/>
                  </a:ext>
                </a:extLst>
              </a:tr>
              <a:tr h="1221728">
                <a:tc gridSpan="4">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dirty="0">
                          <a:ln>
                            <a:noFill/>
                          </a:ln>
                          <a:solidFill>
                            <a:srgbClr val="EF6C00"/>
                          </a:solidFill>
                          <a:effectLst/>
                          <a:uLnTx/>
                          <a:uFillTx/>
                          <a:latin typeface="Courier New"/>
                          <a:ea typeface="Courier New"/>
                          <a:cs typeface="Courier New"/>
                          <a:sym typeface="Courier New"/>
                        </a:rPr>
                        <a:t>Comments: First off, there are clear differences between whether we apply the learned weights or not. If we do not, we get strange output of mostly gibberish, with a tendency to repeat itself over and over again. I did try all three models and compared them to the RNN and the best model in terms of creating a coherent output was GRU, as it preserved some of the style and cadence of Shakespeare’s plays. The RNN preserved most of the tokens (not broken) but was not as good in terms of meaning, with LSTM being in the middle of the two. However, in general, there really wasn’t that much difference between the three, with none of the three being a satisfactory reproduction of Shakespeare’s works. </a:t>
                      </a:r>
                      <a:endParaRPr kumimoji="0" lang="en-US" sz="1000" b="1" i="0" u="none" strike="noStrike" kern="0" cap="none" spc="0" normalizeH="0" baseline="0" noProof="0" dirty="0">
                        <a:ln>
                          <a:noFill/>
                        </a:ln>
                        <a:solidFill>
                          <a:srgbClr val="EF6C00"/>
                        </a:solidFill>
                        <a:effectLst/>
                        <a:uLnTx/>
                        <a:uFillTx/>
                        <a:latin typeface="Courier New"/>
                        <a:cs typeface="Courier New"/>
                        <a:sym typeface="Courier New"/>
                      </a:endParaRP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78153533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dirty="0"/>
              <a:t>ECE 157B/272B </a:t>
            </a:r>
            <a:br>
              <a:rPr lang="en" dirty="0"/>
            </a:br>
            <a:r>
              <a:rPr lang="en" dirty="0"/>
              <a:t>Homework 1 Part B</a:t>
            </a:r>
            <a:endParaRPr dirty="0"/>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Submitted By Edward Ding</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94389"/>
            <a:ext cx="8520600" cy="75469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1. Make up 3 sentences. Use the </a:t>
            </a:r>
            <a:r>
              <a:rPr lang="en" sz="1400" dirty="0" err="1">
                <a:latin typeface="Courier New"/>
                <a:ea typeface="Courier New"/>
                <a:cs typeface="Courier New"/>
                <a:sym typeface="Courier New"/>
              </a:rPr>
              <a:t>tokenizer_toy</a:t>
            </a:r>
            <a:r>
              <a:rPr lang="en" sz="1400" dirty="0"/>
              <a:t> (as provided in the notebook) to encode and inspect the sentences with a tokenizer trained on </a:t>
            </a:r>
            <a:r>
              <a:rPr lang="en" sz="1400" dirty="0" err="1"/>
              <a:t>shakespeare_train</a:t>
            </a:r>
            <a:r>
              <a:rPr lang="en" sz="1400" dirty="0"/>
              <a:t> and one trained on </a:t>
            </a:r>
            <a:r>
              <a:rPr lang="en" sz="1400" dirty="0" err="1"/>
              <a:t>daily_dialog_train</a:t>
            </a:r>
            <a:r>
              <a:rPr lang="en" sz="1400" dirty="0"/>
              <a:t>. Comment on which tokenizer handles each of your sentences “better”. Specify what your definition of “better” is.</a:t>
            </a:r>
            <a:endParaRPr sz="1400" dirty="0">
              <a:latin typeface="Courier New"/>
              <a:ea typeface="Courier New"/>
              <a:cs typeface="Courier New"/>
              <a:sym typeface="Courier New"/>
            </a:endParaRPr>
          </a:p>
        </p:txBody>
      </p:sp>
      <p:sp>
        <p:nvSpPr>
          <p:cNvPr id="5" name="Google Shape;89;p16">
            <a:extLst>
              <a:ext uri="{FF2B5EF4-FFF2-40B4-BE49-F238E27FC236}">
                <a16:creationId xmlns:a16="http://schemas.microsoft.com/office/drawing/2014/main" id="{25442DC5-923E-6853-6ADE-209ED6700E75}"/>
              </a:ext>
            </a:extLst>
          </p:cNvPr>
          <p:cNvSpPr txBox="1">
            <a:spLocks noGrp="1"/>
          </p:cNvSpPr>
          <p:nvPr>
            <p:ph type="body" idx="1"/>
          </p:nvPr>
        </p:nvSpPr>
        <p:spPr>
          <a:xfrm>
            <a:off x="311700" y="849087"/>
            <a:ext cx="8520600" cy="4398774"/>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1200"/>
              </a:spcAft>
              <a:buNone/>
            </a:pPr>
            <a:r>
              <a:rPr lang="en-US" dirty="0"/>
              <a:t>“Have you done the machine learning homework for this class yet? I sure haven’t. I hope the teaching assistants will be nice to us, they will probably not like what they see. “</a:t>
            </a:r>
          </a:p>
          <a:p>
            <a:pPr marL="0" lvl="0" indent="0" algn="l" rtl="0">
              <a:spcBef>
                <a:spcPts val="0"/>
              </a:spcBef>
              <a:spcAft>
                <a:spcPts val="1200"/>
              </a:spcAft>
              <a:buNone/>
            </a:pPr>
            <a:r>
              <a:rPr lang="en-US" b="1" dirty="0"/>
              <a:t>Daily Dialog</a:t>
            </a:r>
            <a:r>
              <a:rPr lang="en-US" dirty="0"/>
              <a:t>: Tokens:  ['have', 'you', 'done', 'the', 'machine', 'learning', 'homework', 'for', 'this', 'class', 'yet', '?', '</a:t>
            </a:r>
            <a:r>
              <a:rPr lang="en-US" dirty="0" err="1"/>
              <a:t>i</a:t>
            </a:r>
            <a:r>
              <a:rPr lang="en-US" dirty="0"/>
              <a:t>', 'sure', 'haven', '’', 't', '.', '</a:t>
            </a:r>
            <a:r>
              <a:rPr lang="en-US" dirty="0" err="1"/>
              <a:t>i</a:t>
            </a:r>
            <a:r>
              <a:rPr lang="en-US" dirty="0"/>
              <a:t>', 'hope', 'the', 'teaching', 'assistant', '##s', 'will', 'be', 'nice', 'to', 'us', ',', 'they', 'will', 'probably', 'not', 'like', 'what', 'they', 'see', '.']</a:t>
            </a:r>
          </a:p>
          <a:p>
            <a:pPr marL="0" lvl="0" indent="0" algn="l" rtl="0">
              <a:spcBef>
                <a:spcPts val="0"/>
              </a:spcBef>
              <a:spcAft>
                <a:spcPts val="1200"/>
              </a:spcAft>
              <a:buNone/>
            </a:pPr>
            <a:r>
              <a:rPr lang="en-US" dirty="0"/>
              <a:t>IDs:     [168, 124, 824, 125, 1680, 2113, 2707, 160, 198, 660, 869, 29, 41, 334, 789, 67, 52, 14, 41, 668, 125, 4461, 2978, 83, 229, 162, 536, 127, 338, 12, 263, 229, 1050, 227, 207, 173, 263, 253, 14]</a:t>
            </a:r>
          </a:p>
          <a:p>
            <a:pPr marL="0" lvl="0" indent="0" algn="l" rtl="0">
              <a:spcBef>
                <a:spcPts val="0"/>
              </a:spcBef>
              <a:spcAft>
                <a:spcPts val="1200"/>
              </a:spcAft>
              <a:buNone/>
            </a:pPr>
            <a:r>
              <a:rPr lang="en-US" b="1" dirty="0"/>
              <a:t>Shakespeare: Tokens</a:t>
            </a:r>
            <a:r>
              <a:rPr lang="en-US" dirty="0"/>
              <a:t>:  ['have', 'you', 'done', 'the', '</a:t>
            </a:r>
            <a:r>
              <a:rPr lang="en-US" dirty="0" err="1"/>
              <a:t>mach</a:t>
            </a:r>
            <a:r>
              <a:rPr lang="en-US" dirty="0"/>
              <a:t>', '##</a:t>
            </a:r>
            <a:r>
              <a:rPr lang="en-US" dirty="0" err="1"/>
              <a:t>ine</a:t>
            </a:r>
            <a:r>
              <a:rPr lang="en-US" dirty="0"/>
              <a:t>', 'learning', 'home', '##w', '##</a:t>
            </a:r>
            <a:r>
              <a:rPr lang="en-US" dirty="0" err="1"/>
              <a:t>ork</a:t>
            </a:r>
            <a:r>
              <a:rPr lang="en-US" dirty="0"/>
              <a:t>', 'for', 'this', 'cl', '##ass', 'yet', '?', '</a:t>
            </a:r>
            <a:r>
              <a:rPr lang="en-US" dirty="0" err="1"/>
              <a:t>i</a:t>
            </a:r>
            <a:r>
              <a:rPr lang="en-US" dirty="0"/>
              <a:t>', 'sure', 'haven', '&lt;</a:t>
            </a:r>
            <a:r>
              <a:rPr lang="en-US" dirty="0" err="1"/>
              <a:t>unk</a:t>
            </a:r>
            <a:r>
              <a:rPr lang="en-US" dirty="0"/>
              <a:t>&gt;', 't', '.', '</a:t>
            </a:r>
            <a:r>
              <a:rPr lang="en-US" dirty="0" err="1"/>
              <a:t>i</a:t>
            </a:r>
            <a:r>
              <a:rPr lang="en-US" dirty="0"/>
              <a:t>', 'hope', 'the', 'teaching', 'assistants', 'will', 'be', 'nice', 'to', 'us', ',', 'they', 'will', 'pro', '##b', '##ably', 'not', 'like', 'what', 'they', 'see', '.']</a:t>
            </a:r>
          </a:p>
          <a:p>
            <a:pPr marL="0" lvl="0" indent="0" algn="l" rtl="0">
              <a:spcBef>
                <a:spcPts val="0"/>
              </a:spcBef>
              <a:spcAft>
                <a:spcPts val="1200"/>
              </a:spcAft>
              <a:buNone/>
            </a:pPr>
            <a:r>
              <a:rPr lang="en-US" dirty="0"/>
              <a:t>IDs:     [177, 103, 767, 93, 11309, 220, 5089, 1204, 70, 437, 132, 167, 230, 290, 417, 19, 30, 1273, 6356, 0, 41, 7, 30, 1250, 93, 7857, 15333, 189, 115, 4611, 102, 361, 5, 295, 189, 428, 67, 5910, 143, 362, 200, 295, 374, 7]</a:t>
            </a:r>
          </a:p>
          <a:p>
            <a:pPr marL="0" lvl="0" indent="0" algn="l" rtl="0">
              <a:spcBef>
                <a:spcPts val="0"/>
              </a:spcBef>
              <a:spcAft>
                <a:spcPts val="1200"/>
              </a:spcAft>
              <a:buNone/>
            </a:pPr>
            <a:r>
              <a:rPr lang="en-US" dirty="0"/>
              <a:t>My definition of ”better” is that the tokenizer can better represent the words in the sentence without needing to break the word up into different tokens. For example, I want a word like “machine” to be represented as a single token, instead of the combination of “</a:t>
            </a:r>
            <a:r>
              <a:rPr lang="en-US" dirty="0" err="1"/>
              <a:t>mach</a:t>
            </a:r>
            <a:r>
              <a:rPr lang="en-US" dirty="0"/>
              <a:t>” and “##</a:t>
            </a:r>
            <a:r>
              <a:rPr lang="en-US" dirty="0" err="1"/>
              <a:t>ine</a:t>
            </a:r>
            <a:r>
              <a:rPr lang="en-US" dirty="0"/>
              <a:t>”. Using this definition of better, we see that there’s a winner here; the Daily Dialog set is much better and does a better job of encoding my sentence. This is little surprise considering that my sentence is written very much in plain modern </a:t>
            </a:r>
            <a:r>
              <a:rPr lang="en-US" dirty="0" err="1"/>
              <a:t>english</a:t>
            </a:r>
            <a:r>
              <a:rPr lang="en-US" dirty="0"/>
              <a:t>, instead of Shakespearean prose. Therefore, the Daily Dialog dataset tokenizer is trained on a dataset closer to my sentence and does a better job of encoding it.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9" name="Google Shape;79;p15"/>
          <p:cNvSpPr txBox="1">
            <a:spLocks noGrp="1"/>
          </p:cNvSpPr>
          <p:nvPr>
            <p:ph type="title"/>
          </p:nvPr>
        </p:nvSpPr>
        <p:spPr>
          <a:xfrm>
            <a:off x="311700" y="80639"/>
            <a:ext cx="8520600" cy="73750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900" dirty="0"/>
              <a:t>2. Train a vocabulary on each of {</a:t>
            </a:r>
            <a:r>
              <a:rPr lang="en" sz="1900" dirty="0" err="1"/>
              <a:t>shakespeare_train</a:t>
            </a:r>
            <a:r>
              <a:rPr lang="en" sz="1900" dirty="0"/>
              <a:t> only, </a:t>
            </a:r>
            <a:r>
              <a:rPr lang="en" sz="1900" dirty="0" err="1"/>
              <a:t>daily_dialog_train</a:t>
            </a:r>
            <a:r>
              <a:rPr lang="en" sz="1900" dirty="0"/>
              <a:t> only, and both}. Why are the peak count of token lengths different between the the three vocabularies? </a:t>
            </a:r>
            <a:endParaRPr sz="1900" dirty="0"/>
          </a:p>
        </p:txBody>
      </p:sp>
      <p:sp>
        <p:nvSpPr>
          <p:cNvPr id="2" name="Google Shape;89;p16">
            <a:extLst>
              <a:ext uri="{FF2B5EF4-FFF2-40B4-BE49-F238E27FC236}">
                <a16:creationId xmlns:a16="http://schemas.microsoft.com/office/drawing/2014/main" id="{23E326D1-984E-1F91-1D13-75AAD714DFB0}"/>
              </a:ext>
            </a:extLst>
          </p:cNvPr>
          <p:cNvSpPr txBox="1">
            <a:spLocks noGrp="1"/>
          </p:cNvSpPr>
          <p:nvPr>
            <p:ph type="body" idx="1"/>
          </p:nvPr>
        </p:nvSpPr>
        <p:spPr>
          <a:xfrm>
            <a:off x="311700" y="818146"/>
            <a:ext cx="8520600" cy="4787524"/>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a:t>We see that the peak token lengths differ between the three sets. For example, Shakespeare has the highest peak count, with nearly 4000 tokens 6 characters long, with daily dialog train and both datasets both lower. We can explain this due to the different subject matters between the two kinds of datasets (Shakespeare and Daily Dialog). It is understandable that Shakespeare might have more tokens with the same length than Daily Dialog, as Daily Dialog presumably is trained on conversational topics that cover a variety of different subjects, with more variability. Considering that Shakespeare is known for using a specific style of writing and that the dataset only covers his plays (a single topic/</a:t>
            </a:r>
            <a:r>
              <a:rPr lang="en-US" dirty="0" err="1"/>
              <a:t>usecase</a:t>
            </a:r>
            <a:r>
              <a:rPr lang="en-US" dirty="0"/>
              <a:t>), it is entirely understandable that the word lengths are more concentrated. We even see this effect in the histograms themselves, with the histogram for daily dialog looking wider and less concentrated than the one for Shakespeare.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311700" y="87516"/>
            <a:ext cx="8520600" cy="102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900" dirty="0"/>
              <a:t>3. Use the provided notebook code to tokenize each dataset with each vocabulary. Include the dataset size (after tokenization) for each dataset and vocabulary pair in your report. Which </a:t>
            </a:r>
            <a:r>
              <a:rPr lang="en" sz="1900" dirty="0" err="1"/>
              <a:t>dataset+vocabulary</a:t>
            </a:r>
            <a:r>
              <a:rPr lang="en" sz="1900" dirty="0"/>
              <a:t> pairing has the largest dataset size? Why? Which has the smallest? Why?</a:t>
            </a:r>
            <a:endParaRPr sz="1900" dirty="0"/>
          </a:p>
        </p:txBody>
      </p:sp>
      <p:sp>
        <p:nvSpPr>
          <p:cNvPr id="95" name="Google Shape;95;p17"/>
          <p:cNvSpPr txBox="1">
            <a:spLocks noGrp="1"/>
          </p:cNvSpPr>
          <p:nvPr>
            <p:ph type="body" idx="1"/>
          </p:nvPr>
        </p:nvSpPr>
        <p:spPr>
          <a:xfrm>
            <a:off x="311700" y="2571749"/>
            <a:ext cx="8520600" cy="2676111"/>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1200"/>
              </a:spcAft>
              <a:buNone/>
            </a:pPr>
            <a:r>
              <a:rPr lang="en-US" dirty="0"/>
              <a:t>We see that the highest number comes from daily dialog trained on Shakespeare training set. This makes sense, considering that if the dataset doesn’t perfectly match a token to the vocabulary, it produces a substring or partial token that’s preceded by a ##. This was previously mentioned in the slides for 1A. The end result is that a word like running becomes stored as “run” + “##</a:t>
            </a:r>
            <a:r>
              <a:rPr lang="en-US" dirty="0" err="1"/>
              <a:t>ning</a:t>
            </a:r>
            <a:r>
              <a:rPr lang="en-US" dirty="0"/>
              <a:t>” instead of a single token “running,” leading to the overall size of the tokenized dataset to increase. On the flip side, the smallest set comes from Shakespeare trained on Shakespeare, which makes sense as that produces the best possible match between data and vocabulary, as they are essentially the same thing. Therefore, less partial tokens are required to represent everything, reducing the array size. </a:t>
            </a:r>
            <a:endParaRPr dirty="0"/>
          </a:p>
        </p:txBody>
      </p:sp>
      <p:graphicFrame>
        <p:nvGraphicFramePr>
          <p:cNvPr id="96" name="Google Shape;96;p17"/>
          <p:cNvGraphicFramePr/>
          <p:nvPr>
            <p:extLst>
              <p:ext uri="{D42A27DB-BD31-4B8C-83A1-F6EECF244321}">
                <p14:modId xmlns:p14="http://schemas.microsoft.com/office/powerpoint/2010/main" val="2117958338"/>
              </p:ext>
            </p:extLst>
          </p:nvPr>
        </p:nvGraphicFramePr>
        <p:xfrm>
          <a:off x="865650" y="1291541"/>
          <a:ext cx="7412700" cy="1188630"/>
        </p:xfrm>
        <a:graphic>
          <a:graphicData uri="http://schemas.openxmlformats.org/drawingml/2006/table">
            <a:tbl>
              <a:tblPr>
                <a:tableStyleId>{BC89EF96-8CEA-46FF-86C4-4CE0E7609802}</a:tableStyleId>
              </a:tblPr>
              <a:tblGrid>
                <a:gridCol w="1853175">
                  <a:extLst>
                    <a:ext uri="{9D8B030D-6E8A-4147-A177-3AD203B41FA5}">
                      <a16:colId xmlns:a16="http://schemas.microsoft.com/office/drawing/2014/main" val="20000"/>
                    </a:ext>
                  </a:extLst>
                </a:gridCol>
                <a:gridCol w="1853175">
                  <a:extLst>
                    <a:ext uri="{9D8B030D-6E8A-4147-A177-3AD203B41FA5}">
                      <a16:colId xmlns:a16="http://schemas.microsoft.com/office/drawing/2014/main" val="20001"/>
                    </a:ext>
                  </a:extLst>
                </a:gridCol>
                <a:gridCol w="1853175">
                  <a:extLst>
                    <a:ext uri="{9D8B030D-6E8A-4147-A177-3AD203B41FA5}">
                      <a16:colId xmlns:a16="http://schemas.microsoft.com/office/drawing/2014/main" val="20002"/>
                    </a:ext>
                  </a:extLst>
                </a:gridCol>
                <a:gridCol w="1853175">
                  <a:extLst>
                    <a:ext uri="{9D8B030D-6E8A-4147-A177-3AD203B41FA5}">
                      <a16:colId xmlns:a16="http://schemas.microsoft.com/office/drawing/2014/main" val="20003"/>
                    </a:ext>
                  </a:extLst>
                </a:gridCol>
              </a:tblGrid>
              <a:tr h="381000">
                <a:tc>
                  <a:txBody>
                    <a:bodyPr/>
                    <a:lstStyle/>
                    <a:p>
                      <a:pPr marL="0" lvl="0" indent="0" algn="r" rtl="0">
                        <a:spcBef>
                          <a:spcPts val="0"/>
                        </a:spcBef>
                        <a:spcAft>
                          <a:spcPts val="0"/>
                        </a:spcAft>
                        <a:buNone/>
                      </a:pPr>
                      <a:r>
                        <a:rPr lang="en" dirty="0">
                          <a:solidFill>
                            <a:srgbClr val="000000"/>
                          </a:solidFill>
                        </a:rPr>
                        <a:t>Data \ Vocab</a:t>
                      </a:r>
                      <a:endParaRPr dirty="0">
                        <a:solidFill>
                          <a:srgbClr val="000000"/>
                        </a:solidFill>
                      </a:endParaRPr>
                    </a:p>
                  </a:txBody>
                  <a:tcPr marL="91425" marR="91425" marT="91425" marB="91425"/>
                </a:tc>
                <a:tc>
                  <a:txBody>
                    <a:bodyPr/>
                    <a:lstStyle/>
                    <a:p>
                      <a:pPr marL="0" lvl="0" indent="0" algn="l" rtl="0">
                        <a:spcBef>
                          <a:spcPts val="0"/>
                        </a:spcBef>
                        <a:spcAft>
                          <a:spcPts val="0"/>
                        </a:spcAft>
                        <a:buNone/>
                      </a:pPr>
                      <a:r>
                        <a:rPr lang="en" dirty="0">
                          <a:solidFill>
                            <a:srgbClr val="000000"/>
                          </a:solidFill>
                        </a:rPr>
                        <a:t>Shakespeare</a:t>
                      </a:r>
                      <a:endParaRPr dirty="0">
                        <a:solidFill>
                          <a:srgbClr val="000000"/>
                        </a:solidFill>
                      </a:endParaRPr>
                    </a:p>
                  </a:txBody>
                  <a:tcPr marL="91425" marR="91425" marT="91425" marB="91425"/>
                </a:tc>
                <a:tc>
                  <a:txBody>
                    <a:bodyPr/>
                    <a:lstStyle/>
                    <a:p>
                      <a:pPr marL="0" lvl="0" indent="0" algn="l" rtl="0">
                        <a:spcBef>
                          <a:spcPts val="0"/>
                        </a:spcBef>
                        <a:spcAft>
                          <a:spcPts val="0"/>
                        </a:spcAft>
                        <a:buNone/>
                      </a:pPr>
                      <a:r>
                        <a:rPr lang="en">
                          <a:solidFill>
                            <a:srgbClr val="000000"/>
                          </a:solidFill>
                        </a:rPr>
                        <a:t>daily_dialog</a:t>
                      </a:r>
                      <a:endParaRPr>
                        <a:solidFill>
                          <a:srgbClr val="000000"/>
                        </a:solidFill>
                      </a:endParaRPr>
                    </a:p>
                  </a:txBody>
                  <a:tcPr marL="91425" marR="91425" marT="91425" marB="91425"/>
                </a:tc>
                <a:tc>
                  <a:txBody>
                    <a:bodyPr/>
                    <a:lstStyle/>
                    <a:p>
                      <a:pPr marL="0" lvl="0" indent="0" algn="l" rtl="0">
                        <a:spcBef>
                          <a:spcPts val="0"/>
                        </a:spcBef>
                        <a:spcAft>
                          <a:spcPts val="0"/>
                        </a:spcAft>
                        <a:buNone/>
                      </a:pPr>
                      <a:r>
                        <a:rPr lang="en" dirty="0">
                          <a:solidFill>
                            <a:srgbClr val="000000"/>
                          </a:solidFill>
                        </a:rPr>
                        <a:t>both</a:t>
                      </a:r>
                      <a:endParaRPr dirty="0">
                        <a:solidFill>
                          <a:srgbClr val="000000"/>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dirty="0" err="1">
                          <a:solidFill>
                            <a:srgbClr val="000000"/>
                          </a:solidFill>
                        </a:rPr>
                        <a:t>shakespeare_train</a:t>
                      </a:r>
                      <a:endParaRPr dirty="0">
                        <a:solidFill>
                          <a:srgbClr val="000000"/>
                        </a:solidFill>
                      </a:endParaRPr>
                    </a:p>
                  </a:txBody>
                  <a:tcPr marL="91425" marR="91425" marT="91425" marB="91425"/>
                </a:tc>
                <a:tc>
                  <a:txBody>
                    <a:bodyPr/>
                    <a:lstStyle/>
                    <a:p>
                      <a:pPr marL="0" lvl="0" indent="0" algn="l" rtl="0">
                        <a:spcBef>
                          <a:spcPts val="0"/>
                        </a:spcBef>
                        <a:spcAft>
                          <a:spcPts val="0"/>
                        </a:spcAft>
                        <a:buNone/>
                      </a:pPr>
                      <a:r>
                        <a:rPr lang="en-US" sz="1400" b="0" i="0" u="none" strike="noStrike" cap="none" dirty="0">
                          <a:solidFill>
                            <a:schemeClr val="tx1"/>
                          </a:solidFill>
                          <a:effectLst/>
                          <a:latin typeface="+mn-lt"/>
                          <a:ea typeface="+mn-ea"/>
                          <a:cs typeface="+mn-cs"/>
                          <a:sym typeface="Arial"/>
                        </a:rPr>
                        <a:t>1338873</a:t>
                      </a:r>
                      <a:r>
                        <a:rPr lang="en" dirty="0">
                          <a:solidFill>
                            <a:srgbClr val="000000"/>
                          </a:solidFill>
                        </a:rPr>
                        <a:t> tokens</a:t>
                      </a:r>
                      <a:endParaRPr dirty="0">
                        <a:solidFill>
                          <a:srgbClr val="000000"/>
                        </a:solidFill>
                      </a:endParaRPr>
                    </a:p>
                  </a:txBody>
                  <a:tcPr marL="91425" marR="91425" marT="91425" marB="91425"/>
                </a:tc>
                <a:tc>
                  <a:txBody>
                    <a:bodyPr/>
                    <a:lstStyle/>
                    <a:p>
                      <a:pPr marL="0" lvl="0" indent="0" algn="l" rtl="0">
                        <a:spcBef>
                          <a:spcPts val="0"/>
                        </a:spcBef>
                        <a:spcAft>
                          <a:spcPts val="0"/>
                        </a:spcAft>
                        <a:buNone/>
                      </a:pPr>
                      <a:r>
                        <a:rPr lang="en-US" sz="1400" b="0" i="0" u="none" strike="noStrike" cap="none" dirty="0">
                          <a:solidFill>
                            <a:schemeClr val="tx1"/>
                          </a:solidFill>
                          <a:effectLst/>
                          <a:latin typeface="+mn-lt"/>
                          <a:ea typeface="+mn-ea"/>
                          <a:cs typeface="+mn-cs"/>
                          <a:sym typeface="Arial"/>
                        </a:rPr>
                        <a:t>1624907</a:t>
                      </a:r>
                      <a:r>
                        <a:rPr lang="en" dirty="0">
                          <a:solidFill>
                            <a:srgbClr val="000000"/>
                          </a:solidFill>
                        </a:rPr>
                        <a:t> tokens</a:t>
                      </a:r>
                      <a:endParaRPr dirty="0">
                        <a:solidFill>
                          <a:srgbClr val="000000"/>
                        </a:solidFill>
                      </a:endParaRPr>
                    </a:p>
                  </a:txBody>
                  <a:tcPr marL="91425" marR="91425" marT="91425" marB="91425"/>
                </a:tc>
                <a:tc>
                  <a:txBody>
                    <a:bodyPr/>
                    <a:lstStyle/>
                    <a:p>
                      <a:pPr marL="0" lvl="0" indent="0" algn="l" rtl="0">
                        <a:spcBef>
                          <a:spcPts val="0"/>
                        </a:spcBef>
                        <a:spcAft>
                          <a:spcPts val="0"/>
                        </a:spcAft>
                        <a:buNone/>
                      </a:pPr>
                      <a:r>
                        <a:rPr lang="en-US" sz="1400" b="0" i="0" u="none" strike="noStrike" cap="none" dirty="0">
                          <a:solidFill>
                            <a:schemeClr val="tx1"/>
                          </a:solidFill>
                          <a:effectLst/>
                          <a:latin typeface="+mn-lt"/>
                          <a:ea typeface="+mn-ea"/>
                          <a:cs typeface="+mn-cs"/>
                          <a:sym typeface="Arial"/>
                        </a:rPr>
                        <a:t>1349620</a:t>
                      </a:r>
                      <a:r>
                        <a:rPr lang="en" dirty="0">
                          <a:solidFill>
                            <a:srgbClr val="000000"/>
                          </a:solidFill>
                        </a:rPr>
                        <a:t> tokens</a:t>
                      </a:r>
                      <a:endParaRPr dirty="0">
                        <a:solidFill>
                          <a:srgbClr val="000000"/>
                        </a:solidFill>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solidFill>
                            <a:srgbClr val="000000"/>
                          </a:solidFill>
                        </a:rPr>
                        <a:t>daily_dialog_train</a:t>
                      </a:r>
                      <a:endParaRPr>
                        <a:solidFill>
                          <a:srgbClr val="000000"/>
                        </a:solidFill>
                      </a:endParaRPr>
                    </a:p>
                  </a:txBody>
                  <a:tcPr marL="91425" marR="91425" marT="91425" marB="91425"/>
                </a:tc>
                <a:tc>
                  <a:txBody>
                    <a:bodyPr/>
                    <a:lstStyle/>
                    <a:p>
                      <a:pPr marL="0" lvl="0" indent="0" algn="l" rtl="0">
                        <a:spcBef>
                          <a:spcPts val="0"/>
                        </a:spcBef>
                        <a:spcAft>
                          <a:spcPts val="0"/>
                        </a:spcAft>
                        <a:buNone/>
                      </a:pPr>
                      <a:r>
                        <a:rPr lang="en-US" sz="1400" b="0" i="0" u="none" strike="noStrike" cap="none" dirty="0">
                          <a:solidFill>
                            <a:schemeClr val="tx1"/>
                          </a:solidFill>
                          <a:effectLst/>
                          <a:latin typeface="+mn-lt"/>
                          <a:ea typeface="+mn-ea"/>
                          <a:cs typeface="+mn-cs"/>
                          <a:sym typeface="Arial"/>
                        </a:rPr>
                        <a:t>1495278</a:t>
                      </a:r>
                      <a:r>
                        <a:rPr lang="en" dirty="0">
                          <a:solidFill>
                            <a:srgbClr val="000000"/>
                          </a:solidFill>
                        </a:rPr>
                        <a:t> tokens</a:t>
                      </a:r>
                      <a:endParaRPr dirty="0">
                        <a:solidFill>
                          <a:srgbClr val="000000"/>
                        </a:solidFill>
                      </a:endParaRPr>
                    </a:p>
                  </a:txBody>
                  <a:tcPr marL="91425" marR="91425" marT="91425" marB="91425"/>
                </a:tc>
                <a:tc>
                  <a:txBody>
                    <a:bodyPr/>
                    <a:lstStyle/>
                    <a:p>
                      <a:pPr marL="0" lvl="0" indent="0" algn="l" rtl="0">
                        <a:spcBef>
                          <a:spcPts val="0"/>
                        </a:spcBef>
                        <a:spcAft>
                          <a:spcPts val="0"/>
                        </a:spcAft>
                        <a:buNone/>
                      </a:pPr>
                      <a:r>
                        <a:rPr lang="en-US" sz="1400" b="0" i="0" u="none" strike="noStrike" cap="none" dirty="0">
                          <a:solidFill>
                            <a:schemeClr val="tx1"/>
                          </a:solidFill>
                          <a:effectLst/>
                          <a:latin typeface="+mn-lt"/>
                          <a:ea typeface="+mn-ea"/>
                          <a:cs typeface="+mn-cs"/>
                          <a:sym typeface="Arial"/>
                        </a:rPr>
                        <a:t>1367251</a:t>
                      </a:r>
                      <a:r>
                        <a:rPr lang="en" dirty="0">
                          <a:solidFill>
                            <a:srgbClr val="000000"/>
                          </a:solidFill>
                        </a:rPr>
                        <a:t> tokens</a:t>
                      </a:r>
                      <a:endParaRPr dirty="0">
                        <a:solidFill>
                          <a:srgbClr val="000000"/>
                        </a:solidFill>
                      </a:endParaRPr>
                    </a:p>
                  </a:txBody>
                  <a:tcPr marL="91425" marR="91425" marT="91425" marB="91425"/>
                </a:tc>
                <a:tc>
                  <a:txBody>
                    <a:bodyPr/>
                    <a:lstStyle/>
                    <a:p>
                      <a:pPr marL="0" lvl="0" indent="0" algn="l" rtl="0">
                        <a:spcBef>
                          <a:spcPts val="0"/>
                        </a:spcBef>
                        <a:spcAft>
                          <a:spcPts val="0"/>
                        </a:spcAft>
                        <a:buNone/>
                      </a:pPr>
                      <a:r>
                        <a:rPr lang="en-US" sz="1400" b="0" i="0" u="none" strike="noStrike" cap="none" dirty="0">
                          <a:solidFill>
                            <a:schemeClr val="tx1"/>
                          </a:solidFill>
                          <a:effectLst/>
                          <a:latin typeface="+mn-lt"/>
                          <a:ea typeface="+mn-ea"/>
                          <a:cs typeface="+mn-cs"/>
                          <a:sym typeface="Arial"/>
                        </a:rPr>
                        <a:t>1375915</a:t>
                      </a:r>
                      <a:r>
                        <a:rPr lang="en" dirty="0">
                          <a:solidFill>
                            <a:srgbClr val="000000"/>
                          </a:solidFill>
                        </a:rPr>
                        <a:t> tokens</a:t>
                      </a:r>
                      <a:endParaRPr dirty="0">
                        <a:solidFill>
                          <a:srgbClr val="000000"/>
                        </a:solidFill>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311700" y="56585"/>
            <a:ext cx="8520600" cy="17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dirty="0"/>
              <a:t>4. Complete the </a:t>
            </a:r>
            <a:r>
              <a:rPr lang="en" sz="1900" dirty="0">
                <a:latin typeface="Courier New"/>
                <a:ea typeface="Courier New"/>
                <a:cs typeface="Courier New"/>
                <a:sym typeface="Courier New"/>
              </a:rPr>
              <a:t>forward</a:t>
            </a:r>
            <a:r>
              <a:rPr lang="en" sz="1900" dirty="0"/>
              <a:t> function in </a:t>
            </a:r>
            <a:r>
              <a:rPr lang="en" sz="1900" dirty="0" err="1">
                <a:latin typeface="Courier New"/>
                <a:ea typeface="Courier New"/>
                <a:cs typeface="Courier New"/>
                <a:sym typeface="Courier New"/>
              </a:rPr>
              <a:t>RecurrentModel</a:t>
            </a:r>
            <a:r>
              <a:rPr lang="en" sz="1900" dirty="0"/>
              <a:t> from Part A to implement a recurrent language model. Note your choice of optimizer, model type, and parameters in your report. Then train two language models, one on each dataset, tokenized using the tokenizer trained on both datasets. Test the perplexity of each model on each dataset and place the results in your report slides. Explain why the perplexities are different between the two models on the same dataset.</a:t>
            </a:r>
            <a:endParaRPr sz="1900" dirty="0"/>
          </a:p>
        </p:txBody>
      </p:sp>
      <p:sp>
        <p:nvSpPr>
          <p:cNvPr id="108" name="Google Shape;108;p19"/>
          <p:cNvSpPr txBox="1">
            <a:spLocks noGrp="1"/>
          </p:cNvSpPr>
          <p:nvPr>
            <p:ph type="body" idx="1"/>
          </p:nvPr>
        </p:nvSpPr>
        <p:spPr>
          <a:xfrm>
            <a:off x="311700" y="1856284"/>
            <a:ext cx="1798983" cy="3086975"/>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1200"/>
              </a:spcAft>
              <a:buNone/>
            </a:pPr>
            <a:r>
              <a:rPr lang="en" sz="1400" dirty="0"/>
              <a:t>Parameters:</a:t>
            </a:r>
          </a:p>
          <a:p>
            <a:pPr marL="0" lvl="0" indent="0" algn="l" rtl="0">
              <a:spcBef>
                <a:spcPts val="0"/>
              </a:spcBef>
              <a:spcAft>
                <a:spcPts val="1200"/>
              </a:spcAft>
              <a:buNone/>
            </a:pPr>
            <a:r>
              <a:rPr lang="en" sz="1050" dirty="0"/>
              <a:t>(Include optimizer, model type, and parameters)</a:t>
            </a:r>
            <a:endParaRPr sz="1050" dirty="0"/>
          </a:p>
        </p:txBody>
      </p:sp>
      <p:sp>
        <p:nvSpPr>
          <p:cNvPr id="109" name="Google Shape;109;p19"/>
          <p:cNvSpPr txBox="1">
            <a:spLocks noGrp="1"/>
          </p:cNvSpPr>
          <p:nvPr>
            <p:ph type="body" idx="1"/>
          </p:nvPr>
        </p:nvSpPr>
        <p:spPr>
          <a:xfrm>
            <a:off x="2147214" y="3074365"/>
            <a:ext cx="6685085" cy="1868893"/>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400" dirty="0"/>
              <a:t>Explain:</a:t>
            </a:r>
            <a:endParaRPr sz="1400" dirty="0"/>
          </a:p>
        </p:txBody>
      </p:sp>
      <p:graphicFrame>
        <p:nvGraphicFramePr>
          <p:cNvPr id="110" name="Google Shape;110;p19"/>
          <p:cNvGraphicFramePr/>
          <p:nvPr>
            <p:extLst>
              <p:ext uri="{D42A27DB-BD31-4B8C-83A1-F6EECF244321}">
                <p14:modId xmlns:p14="http://schemas.microsoft.com/office/powerpoint/2010/main" val="3024540939"/>
              </p:ext>
            </p:extLst>
          </p:nvPr>
        </p:nvGraphicFramePr>
        <p:xfrm>
          <a:off x="2147215" y="1856284"/>
          <a:ext cx="6685085" cy="1143000"/>
        </p:xfrm>
        <a:graphic>
          <a:graphicData uri="http://schemas.openxmlformats.org/drawingml/2006/table">
            <a:tbl>
              <a:tblPr>
                <a:noFill/>
              </a:tblPr>
              <a:tblGrid>
                <a:gridCol w="1077248">
                  <a:extLst>
                    <a:ext uri="{9D8B030D-6E8A-4147-A177-3AD203B41FA5}">
                      <a16:colId xmlns:a16="http://schemas.microsoft.com/office/drawing/2014/main" val="20000"/>
                    </a:ext>
                  </a:extLst>
                </a:gridCol>
                <a:gridCol w="1596786">
                  <a:extLst>
                    <a:ext uri="{9D8B030D-6E8A-4147-A177-3AD203B41FA5}">
                      <a16:colId xmlns:a16="http://schemas.microsoft.com/office/drawing/2014/main" val="20001"/>
                    </a:ext>
                  </a:extLst>
                </a:gridCol>
                <a:gridCol w="1337017">
                  <a:extLst>
                    <a:ext uri="{9D8B030D-6E8A-4147-A177-3AD203B41FA5}">
                      <a16:colId xmlns:a16="http://schemas.microsoft.com/office/drawing/2014/main" val="20002"/>
                    </a:ext>
                  </a:extLst>
                </a:gridCol>
                <a:gridCol w="1337017">
                  <a:extLst>
                    <a:ext uri="{9D8B030D-6E8A-4147-A177-3AD203B41FA5}">
                      <a16:colId xmlns:a16="http://schemas.microsoft.com/office/drawing/2014/main" val="20003"/>
                    </a:ext>
                  </a:extLst>
                </a:gridCol>
                <a:gridCol w="1337017">
                  <a:extLst>
                    <a:ext uri="{9D8B030D-6E8A-4147-A177-3AD203B41FA5}">
                      <a16:colId xmlns:a16="http://schemas.microsoft.com/office/drawing/2014/main" val="20004"/>
                    </a:ext>
                  </a:extLst>
                </a:gridCol>
              </a:tblGrid>
              <a:tr h="381000">
                <a:tc>
                  <a:txBody>
                    <a:bodyPr/>
                    <a:lstStyle/>
                    <a:p>
                      <a:pPr marL="0" lvl="0" indent="0" algn="ctr" rtl="0">
                        <a:spcBef>
                          <a:spcPts val="0"/>
                        </a:spcBef>
                        <a:spcAft>
                          <a:spcPts val="0"/>
                        </a:spcAft>
                        <a:buNone/>
                      </a:pPr>
                      <a:r>
                        <a:rPr lang="en" sz="1200" dirty="0">
                          <a:solidFill>
                            <a:srgbClr val="000000"/>
                          </a:solidFill>
                        </a:rPr>
                        <a:t>Model \ Dat</a:t>
                      </a:r>
                      <a:endParaRPr sz="1200" dirty="0">
                        <a:solidFill>
                          <a:srgbClr val="000000"/>
                        </a:solidFill>
                      </a:endParaRPr>
                    </a:p>
                  </a:txBody>
                  <a:tcPr marL="91425" marR="91425" marT="91425" marB="91425"/>
                </a:tc>
                <a:tc>
                  <a:txBody>
                    <a:bodyPr/>
                    <a:lstStyle/>
                    <a:p>
                      <a:pPr marL="0" lvl="0" indent="0" algn="ctr" rtl="0">
                        <a:spcBef>
                          <a:spcPts val="0"/>
                        </a:spcBef>
                        <a:spcAft>
                          <a:spcPts val="0"/>
                        </a:spcAft>
                        <a:buNone/>
                      </a:pPr>
                      <a:r>
                        <a:rPr lang="en" sz="1200" dirty="0">
                          <a:solidFill>
                            <a:srgbClr val="000000"/>
                          </a:solidFill>
                        </a:rPr>
                        <a:t>Shakespeare train</a:t>
                      </a:r>
                      <a:endParaRPr sz="1200" dirty="0">
                        <a:solidFill>
                          <a:srgbClr val="000000"/>
                        </a:solidFill>
                      </a:endParaRPr>
                    </a:p>
                  </a:txBody>
                  <a:tcPr marL="91425" marR="91425" marT="91425" marB="91425"/>
                </a:tc>
                <a:tc>
                  <a:txBody>
                    <a:bodyPr/>
                    <a:lstStyle/>
                    <a:p>
                      <a:pPr marL="0" lvl="0" indent="0" algn="ctr" rtl="0">
                        <a:spcBef>
                          <a:spcPts val="0"/>
                        </a:spcBef>
                        <a:spcAft>
                          <a:spcPts val="0"/>
                        </a:spcAft>
                        <a:buNone/>
                      </a:pPr>
                      <a:r>
                        <a:rPr lang="en" sz="1200" dirty="0">
                          <a:solidFill>
                            <a:srgbClr val="000000"/>
                          </a:solidFill>
                        </a:rPr>
                        <a:t>Shakespeare </a:t>
                      </a:r>
                      <a:r>
                        <a:rPr lang="en" sz="1200" dirty="0" err="1">
                          <a:solidFill>
                            <a:srgbClr val="000000"/>
                          </a:solidFill>
                        </a:rPr>
                        <a:t>val</a:t>
                      </a:r>
                      <a:endParaRPr sz="1200" dirty="0">
                        <a:solidFill>
                          <a:srgbClr val="000000"/>
                        </a:solidFill>
                      </a:endParaRPr>
                    </a:p>
                  </a:txBody>
                  <a:tcPr marL="91425" marR="91425" marT="91425" marB="91425"/>
                </a:tc>
                <a:tc>
                  <a:txBody>
                    <a:bodyPr/>
                    <a:lstStyle/>
                    <a:p>
                      <a:pPr marL="0" lvl="0" indent="0" algn="ctr" rtl="0">
                        <a:spcBef>
                          <a:spcPts val="0"/>
                        </a:spcBef>
                        <a:spcAft>
                          <a:spcPts val="0"/>
                        </a:spcAft>
                        <a:buNone/>
                      </a:pPr>
                      <a:r>
                        <a:rPr lang="en" sz="1200" dirty="0" err="1">
                          <a:solidFill>
                            <a:srgbClr val="000000"/>
                          </a:solidFill>
                        </a:rPr>
                        <a:t>daily_dialog</a:t>
                      </a:r>
                      <a:r>
                        <a:rPr lang="en" sz="1200" dirty="0">
                          <a:solidFill>
                            <a:srgbClr val="000000"/>
                          </a:solidFill>
                        </a:rPr>
                        <a:t> train</a:t>
                      </a:r>
                      <a:endParaRPr sz="1200" dirty="0">
                        <a:solidFill>
                          <a:srgbClr val="000000"/>
                        </a:solidFill>
                      </a:endParaRPr>
                    </a:p>
                  </a:txBody>
                  <a:tcPr marL="91425" marR="91425" marT="91425" marB="91425"/>
                </a:tc>
                <a:tc>
                  <a:txBody>
                    <a:bodyPr/>
                    <a:lstStyle/>
                    <a:p>
                      <a:pPr marL="0" lvl="0" indent="0" algn="ctr" rtl="0">
                        <a:spcBef>
                          <a:spcPts val="0"/>
                        </a:spcBef>
                        <a:spcAft>
                          <a:spcPts val="0"/>
                        </a:spcAft>
                        <a:buNone/>
                      </a:pPr>
                      <a:r>
                        <a:rPr lang="en" sz="1200" dirty="0" err="1">
                          <a:solidFill>
                            <a:srgbClr val="000000"/>
                          </a:solidFill>
                        </a:rPr>
                        <a:t>daily_dialog</a:t>
                      </a:r>
                      <a:r>
                        <a:rPr lang="en" sz="1200" dirty="0">
                          <a:solidFill>
                            <a:srgbClr val="000000"/>
                          </a:solidFill>
                        </a:rPr>
                        <a:t> </a:t>
                      </a:r>
                      <a:r>
                        <a:rPr lang="en" sz="1200" dirty="0" err="1">
                          <a:solidFill>
                            <a:srgbClr val="000000"/>
                          </a:solidFill>
                        </a:rPr>
                        <a:t>val</a:t>
                      </a:r>
                      <a:endParaRPr sz="1200" dirty="0">
                        <a:solidFill>
                          <a:srgbClr val="000000"/>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200" dirty="0">
                          <a:solidFill>
                            <a:srgbClr val="000000"/>
                          </a:solidFill>
                        </a:rPr>
                        <a:t>Shakespeare</a:t>
                      </a: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endParaRPr sz="1200">
                        <a:solidFill>
                          <a:srgbClr val="000000"/>
                        </a:solidFill>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200" dirty="0" err="1">
                          <a:solidFill>
                            <a:srgbClr val="000000"/>
                          </a:solidFill>
                        </a:rPr>
                        <a:t>daily_dialog</a:t>
                      </a: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endParaRPr sz="1200" dirty="0">
                        <a:solidFill>
                          <a:srgbClr val="000000"/>
                        </a:solidFill>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311700" y="101266"/>
            <a:ext cx="8520600" cy="183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5. Complete the accuracy calculation code in </a:t>
            </a:r>
            <a:r>
              <a:rPr lang="en" sz="1800" dirty="0" err="1">
                <a:latin typeface="Courier New"/>
                <a:ea typeface="Courier New"/>
                <a:cs typeface="Courier New"/>
                <a:sym typeface="Courier New"/>
              </a:rPr>
              <a:t>train_epoch_classifier</a:t>
            </a:r>
            <a:r>
              <a:rPr lang="en" sz="1800" dirty="0"/>
              <a:t> and </a:t>
            </a:r>
            <a:r>
              <a:rPr lang="en" sz="1800" dirty="0" err="1">
                <a:latin typeface="Courier New"/>
                <a:ea typeface="Courier New"/>
                <a:cs typeface="Courier New"/>
                <a:sym typeface="Courier New"/>
              </a:rPr>
              <a:t>evaluate_classifier</a:t>
            </a:r>
            <a:r>
              <a:rPr lang="en" sz="1800" dirty="0"/>
              <a:t>. Note your choice of optimizer, model type, and parameters in your report. Then train two language models, one pre-trained with the text generation task, and one randomly initialized, on the </a:t>
            </a:r>
            <a:r>
              <a:rPr lang="en" sz="1800" dirty="0" err="1">
                <a:latin typeface="Courier New"/>
                <a:ea typeface="Courier New"/>
                <a:cs typeface="Courier New"/>
                <a:sym typeface="Courier New"/>
              </a:rPr>
              <a:t>daily_dialog</a:t>
            </a:r>
            <a:r>
              <a:rPr lang="en" sz="1800" dirty="0"/>
              <a:t> emotion classification task. Test the accuracy of each model on the validation set and place the results in your report slides. Explain why the accuracies are different between the two models on the same dataset.</a:t>
            </a:r>
            <a:endParaRPr sz="1800" dirty="0"/>
          </a:p>
        </p:txBody>
      </p:sp>
      <p:sp>
        <p:nvSpPr>
          <p:cNvPr id="116" name="Google Shape;116;p20"/>
          <p:cNvSpPr txBox="1">
            <a:spLocks noGrp="1"/>
          </p:cNvSpPr>
          <p:nvPr>
            <p:ph type="body" idx="1"/>
          </p:nvPr>
        </p:nvSpPr>
        <p:spPr>
          <a:xfrm>
            <a:off x="311700" y="1849426"/>
            <a:ext cx="2490600" cy="2426941"/>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1200"/>
              </a:spcAft>
              <a:buNone/>
            </a:pPr>
            <a:r>
              <a:rPr lang="en" sz="1400" dirty="0"/>
              <a:t>Parameters:</a:t>
            </a:r>
          </a:p>
          <a:p>
            <a:pPr marL="0" marR="0" lvl="0" indent="0" algn="l" defTabSz="914400" rtl="0" eaLnBrk="1" fontAlgn="auto" latinLnBrk="0" hangingPunct="1">
              <a:lnSpc>
                <a:spcPct val="115000"/>
              </a:lnSpc>
              <a:spcBef>
                <a:spcPts val="0"/>
              </a:spcBef>
              <a:spcAft>
                <a:spcPts val="1200"/>
              </a:spcAft>
              <a:buClr>
                <a:srgbClr val="695D46"/>
              </a:buClr>
              <a:buSzPts val="1800"/>
              <a:buFont typeface="Open Sans"/>
              <a:buNone/>
              <a:tabLst/>
              <a:defRPr/>
            </a:pPr>
            <a:r>
              <a:rPr kumimoji="0" lang="en-US" sz="1050" b="0" i="0" u="none" strike="noStrike" kern="0" cap="none" spc="0" normalizeH="0" baseline="0" noProof="0" dirty="0">
                <a:ln>
                  <a:noFill/>
                </a:ln>
                <a:solidFill>
                  <a:srgbClr val="695D46"/>
                </a:solidFill>
                <a:effectLst/>
                <a:uLnTx/>
                <a:uFillTx/>
                <a:latin typeface="Open Sans"/>
                <a:ea typeface="Open Sans"/>
                <a:cs typeface="Open Sans"/>
                <a:sym typeface="Open Sans"/>
              </a:rPr>
              <a:t>(Include optimizer, model type, and parameters)</a:t>
            </a:r>
          </a:p>
          <a:p>
            <a:pPr marL="0" lvl="0" indent="0" algn="l" rtl="0">
              <a:spcBef>
                <a:spcPts val="0"/>
              </a:spcBef>
              <a:spcAft>
                <a:spcPts val="1200"/>
              </a:spcAft>
              <a:buNone/>
            </a:pPr>
            <a:endParaRPr sz="1400" dirty="0"/>
          </a:p>
        </p:txBody>
      </p:sp>
      <p:graphicFrame>
        <p:nvGraphicFramePr>
          <p:cNvPr id="117" name="Google Shape;117;p20"/>
          <p:cNvGraphicFramePr/>
          <p:nvPr>
            <p:extLst>
              <p:ext uri="{D42A27DB-BD31-4B8C-83A1-F6EECF244321}">
                <p14:modId xmlns:p14="http://schemas.microsoft.com/office/powerpoint/2010/main" val="1205816090"/>
              </p:ext>
            </p:extLst>
          </p:nvPr>
        </p:nvGraphicFramePr>
        <p:xfrm>
          <a:off x="2864177" y="1849426"/>
          <a:ext cx="4636653" cy="731460"/>
        </p:xfrm>
        <a:graphic>
          <a:graphicData uri="http://schemas.openxmlformats.org/drawingml/2006/table">
            <a:tbl>
              <a:tblPr>
                <a:noFill/>
              </a:tblPr>
              <a:tblGrid>
                <a:gridCol w="1106329">
                  <a:extLst>
                    <a:ext uri="{9D8B030D-6E8A-4147-A177-3AD203B41FA5}">
                      <a16:colId xmlns:a16="http://schemas.microsoft.com/office/drawing/2014/main" val="20000"/>
                    </a:ext>
                  </a:extLst>
                </a:gridCol>
                <a:gridCol w="1710971">
                  <a:extLst>
                    <a:ext uri="{9D8B030D-6E8A-4147-A177-3AD203B41FA5}">
                      <a16:colId xmlns:a16="http://schemas.microsoft.com/office/drawing/2014/main" val="20001"/>
                    </a:ext>
                  </a:extLst>
                </a:gridCol>
                <a:gridCol w="1819353">
                  <a:extLst>
                    <a:ext uri="{9D8B030D-6E8A-4147-A177-3AD203B41FA5}">
                      <a16:colId xmlns:a16="http://schemas.microsoft.com/office/drawing/2014/main" val="20002"/>
                    </a:ext>
                  </a:extLst>
                </a:gridCol>
              </a:tblGrid>
              <a:tr h="300293">
                <a:tc>
                  <a:txBody>
                    <a:bodyPr/>
                    <a:lstStyle/>
                    <a:p>
                      <a:pPr marL="0" lvl="0" indent="0" algn="l" rtl="0">
                        <a:spcBef>
                          <a:spcPts val="0"/>
                        </a:spcBef>
                        <a:spcAft>
                          <a:spcPts val="0"/>
                        </a:spcAft>
                        <a:buNone/>
                      </a:pPr>
                      <a:r>
                        <a:rPr lang="en" sz="1200" dirty="0">
                          <a:solidFill>
                            <a:srgbClr val="000000"/>
                          </a:solidFill>
                        </a:rPr>
                        <a:t>Model</a:t>
                      </a: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r>
                        <a:rPr lang="en" sz="1200" dirty="0">
                          <a:solidFill>
                            <a:srgbClr val="000000"/>
                          </a:solidFill>
                        </a:rPr>
                        <a:t>Text Gen Pre-Trained</a:t>
                      </a: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r>
                        <a:rPr lang="en" sz="1200" dirty="0">
                          <a:solidFill>
                            <a:srgbClr val="000000"/>
                          </a:solidFill>
                        </a:rPr>
                        <a:t>Random Init</a:t>
                      </a:r>
                      <a:endParaRPr sz="1200" dirty="0">
                        <a:solidFill>
                          <a:srgbClr val="000000"/>
                        </a:solidFill>
                      </a:endParaRPr>
                    </a:p>
                  </a:txBody>
                  <a:tcPr marL="91425" marR="91425" marT="91425" marB="91425"/>
                </a:tc>
                <a:extLst>
                  <a:ext uri="{0D108BD9-81ED-4DB2-BD59-A6C34878D82A}">
                    <a16:rowId xmlns:a16="http://schemas.microsoft.com/office/drawing/2014/main" val="10000"/>
                  </a:ext>
                </a:extLst>
              </a:tr>
              <a:tr h="300293">
                <a:tc>
                  <a:txBody>
                    <a:bodyPr/>
                    <a:lstStyle/>
                    <a:p>
                      <a:pPr marL="0" lvl="0" indent="0" algn="l" rtl="0">
                        <a:spcBef>
                          <a:spcPts val="0"/>
                        </a:spcBef>
                        <a:spcAft>
                          <a:spcPts val="0"/>
                        </a:spcAft>
                        <a:buNone/>
                      </a:pPr>
                      <a:r>
                        <a:rPr lang="en" sz="1200" dirty="0">
                          <a:solidFill>
                            <a:srgbClr val="000000"/>
                          </a:solidFill>
                        </a:rPr>
                        <a:t>Val Accuracy</a:t>
                      </a: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r>
                        <a:rPr lang="en" sz="1200" dirty="0">
                          <a:solidFill>
                            <a:srgbClr val="000000"/>
                          </a:solidFill>
                        </a:rPr>
                        <a:t>______ %</a:t>
                      </a:r>
                      <a:endParaRPr sz="1200" dirty="0">
                        <a:solidFill>
                          <a:srgbClr val="000000"/>
                        </a:solidFill>
                      </a:endParaRPr>
                    </a:p>
                  </a:txBody>
                  <a:tcPr marL="91425" marR="91425" marT="91425" marB="91425"/>
                </a:tc>
                <a:tc>
                  <a:txBody>
                    <a:bodyPr/>
                    <a:lstStyle/>
                    <a:p>
                      <a:pPr marL="0" lvl="0" indent="0" algn="l" rtl="0">
                        <a:spcBef>
                          <a:spcPts val="0"/>
                        </a:spcBef>
                        <a:spcAft>
                          <a:spcPts val="0"/>
                        </a:spcAft>
                        <a:buNone/>
                      </a:pPr>
                      <a:r>
                        <a:rPr lang="en" sz="1200" dirty="0">
                          <a:solidFill>
                            <a:srgbClr val="000000"/>
                          </a:solidFill>
                        </a:rPr>
                        <a:t>______ %</a:t>
                      </a:r>
                      <a:endParaRPr sz="1200" dirty="0">
                        <a:solidFill>
                          <a:srgbClr val="000000"/>
                        </a:solidFill>
                      </a:endParaRPr>
                    </a:p>
                  </a:txBody>
                  <a:tcPr marL="91425" marR="91425" marT="91425" marB="91425"/>
                </a:tc>
                <a:extLst>
                  <a:ext uri="{0D108BD9-81ED-4DB2-BD59-A6C34878D82A}">
                    <a16:rowId xmlns:a16="http://schemas.microsoft.com/office/drawing/2014/main" val="10001"/>
                  </a:ext>
                </a:extLst>
              </a:tr>
            </a:tbl>
          </a:graphicData>
        </a:graphic>
      </p:graphicFrame>
      <p:sp>
        <p:nvSpPr>
          <p:cNvPr id="118" name="Google Shape;118;p20"/>
          <p:cNvSpPr txBox="1">
            <a:spLocks noGrp="1"/>
          </p:cNvSpPr>
          <p:nvPr>
            <p:ph type="body" idx="1"/>
          </p:nvPr>
        </p:nvSpPr>
        <p:spPr>
          <a:xfrm>
            <a:off x="2864176" y="2638486"/>
            <a:ext cx="5968123" cy="2325399"/>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400" dirty="0"/>
              <a:t>Explain:</a:t>
            </a:r>
            <a:endParaRPr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a:spLocks noGrp="1"/>
          </p:cNvSpPr>
          <p:nvPr>
            <p:ph type="title"/>
          </p:nvPr>
        </p:nvSpPr>
        <p:spPr>
          <a:xfrm>
            <a:off x="311675" y="84992"/>
            <a:ext cx="8520600" cy="132498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t>6. Generate per-class accuracies and confusion matrices for your classifiers with the provided code. Explain why you will choose one classifier over the other. Then use your chosen classifier to generate predictions to upload to the </a:t>
            </a:r>
            <a:r>
              <a:rPr lang="en" sz="2000" dirty="0" err="1"/>
              <a:t>GradeScope</a:t>
            </a:r>
            <a:r>
              <a:rPr lang="en" sz="2000" dirty="0"/>
              <a:t> </a:t>
            </a:r>
            <a:r>
              <a:rPr lang="en" sz="2000" dirty="0" err="1"/>
              <a:t>autograder</a:t>
            </a:r>
            <a:r>
              <a:rPr lang="en" sz="2000" dirty="0"/>
              <a:t> alongside your code.</a:t>
            </a:r>
            <a:endParaRPr sz="2000" dirty="0"/>
          </a:p>
        </p:txBody>
      </p:sp>
      <p:graphicFrame>
        <p:nvGraphicFramePr>
          <p:cNvPr id="5" name="Table 4">
            <a:extLst>
              <a:ext uri="{FF2B5EF4-FFF2-40B4-BE49-F238E27FC236}">
                <a16:creationId xmlns:a16="http://schemas.microsoft.com/office/drawing/2014/main" id="{7229DC6E-83B6-BFDC-B6B9-30063B6DEE56}"/>
              </a:ext>
            </a:extLst>
          </p:cNvPr>
          <p:cNvGraphicFramePr>
            <a:graphicFrameLocks noGrp="1"/>
          </p:cNvGraphicFramePr>
          <p:nvPr>
            <p:extLst>
              <p:ext uri="{D42A27DB-BD31-4B8C-83A1-F6EECF244321}">
                <p14:modId xmlns:p14="http://schemas.microsoft.com/office/powerpoint/2010/main" val="4270004925"/>
              </p:ext>
            </p:extLst>
          </p:nvPr>
        </p:nvGraphicFramePr>
        <p:xfrm>
          <a:off x="311675" y="1409982"/>
          <a:ext cx="8520599" cy="3566643"/>
        </p:xfrm>
        <a:graphic>
          <a:graphicData uri="http://schemas.openxmlformats.org/drawingml/2006/table">
            <a:tbl>
              <a:tblPr firstRow="1" bandRow="1">
                <a:tableStyleId>{BC89EF96-8CEA-46FF-86C4-4CE0E7609802}</a:tableStyleId>
              </a:tblPr>
              <a:tblGrid>
                <a:gridCol w="698978">
                  <a:extLst>
                    <a:ext uri="{9D8B030D-6E8A-4147-A177-3AD203B41FA5}">
                      <a16:colId xmlns:a16="http://schemas.microsoft.com/office/drawing/2014/main" val="84716003"/>
                    </a:ext>
                  </a:extLst>
                </a:gridCol>
                <a:gridCol w="4095072">
                  <a:extLst>
                    <a:ext uri="{9D8B030D-6E8A-4147-A177-3AD203B41FA5}">
                      <a16:colId xmlns:a16="http://schemas.microsoft.com/office/drawing/2014/main" val="3154533188"/>
                    </a:ext>
                  </a:extLst>
                </a:gridCol>
                <a:gridCol w="3726549">
                  <a:extLst>
                    <a:ext uri="{9D8B030D-6E8A-4147-A177-3AD203B41FA5}">
                      <a16:colId xmlns:a16="http://schemas.microsoft.com/office/drawing/2014/main" val="1777085866"/>
                    </a:ext>
                  </a:extLst>
                </a:gridCol>
              </a:tblGrid>
              <a:tr h="285186">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1" i="0" u="none" strike="noStrike" kern="0" cap="none" spc="0" normalizeH="0" baseline="0" noProof="0" dirty="0">
                          <a:ln>
                            <a:noFill/>
                          </a:ln>
                          <a:solidFill>
                            <a:srgbClr val="EF6C00"/>
                          </a:solidFill>
                          <a:effectLst/>
                          <a:uLnTx/>
                          <a:uFillTx/>
                          <a:latin typeface="Courier New"/>
                          <a:cs typeface="Courier New"/>
                          <a:sym typeface="Courier New"/>
                        </a:rPr>
                        <a:t>M</a:t>
                      </a:r>
                      <a:r>
                        <a:rPr kumimoji="0" lang="en-US" sz="1400" b="1" i="0" u="none" strike="noStrike" kern="0" cap="none" spc="0" normalizeH="0" baseline="0" noProof="0" dirty="0" err="1">
                          <a:ln>
                            <a:noFill/>
                          </a:ln>
                          <a:solidFill>
                            <a:srgbClr val="EF6C00"/>
                          </a:solidFill>
                          <a:effectLst/>
                          <a:uLnTx/>
                          <a:uFillTx/>
                          <a:latin typeface="Courier New"/>
                          <a:cs typeface="Courier New"/>
                          <a:sym typeface="Courier New"/>
                        </a:rPr>
                        <a:t>odel</a:t>
                      </a:r>
                      <a:r>
                        <a:rPr kumimoji="0" lang="en-US" sz="1400" b="1" i="0" u="none" strike="noStrike" kern="0" cap="none" spc="0" normalizeH="0" baseline="0" noProof="0" dirty="0">
                          <a:ln>
                            <a:noFill/>
                          </a:ln>
                          <a:solidFill>
                            <a:srgbClr val="EF6C00"/>
                          </a:solidFill>
                          <a:effectLst/>
                          <a:uLnTx/>
                          <a:uFillTx/>
                          <a:latin typeface="Courier New"/>
                          <a:cs typeface="Courier New"/>
                          <a:sym typeface="Courier New"/>
                        </a:rPr>
                        <a:t>:</a:t>
                      </a:r>
                      <a:endParaRPr lang="en-US" b="0" dirty="0"/>
                    </a:p>
                  </a:txBody>
                  <a:tcPr anchor="ctr"/>
                </a:tc>
                <a:tc>
                  <a:txBody>
                    <a:bodyPr/>
                    <a:lstStyle/>
                    <a:p>
                      <a:pPr algn="l"/>
                      <a:r>
                        <a:rPr kumimoji="0" lang="en" sz="1400" b="1" i="0" u="none" strike="noStrike" kern="0" cap="none" spc="0" normalizeH="0" baseline="0" noProof="0" dirty="0">
                          <a:ln>
                            <a:noFill/>
                          </a:ln>
                          <a:solidFill>
                            <a:srgbClr val="EF6C00"/>
                          </a:solidFill>
                          <a:effectLst/>
                          <a:uLnTx/>
                          <a:uFillTx/>
                          <a:latin typeface="Courier New"/>
                          <a:cs typeface="Courier New"/>
                          <a:sym typeface="Courier New"/>
                        </a:rPr>
                        <a:t>Model:</a:t>
                      </a:r>
                      <a:endParaRPr lang="en-US" b="0" dirty="0"/>
                    </a:p>
                  </a:txBody>
                  <a:tcPr anchor="ctr"/>
                </a:tc>
                <a:extLst>
                  <a:ext uri="{0D108BD9-81ED-4DB2-BD59-A6C34878D82A}">
                    <a16:rowId xmlns:a16="http://schemas.microsoft.com/office/drawing/2014/main" val="2075907566"/>
                  </a:ext>
                </a:extLst>
              </a:tr>
              <a:tr h="178563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1" i="0" u="none" strike="noStrike" kern="0" cap="none" spc="0" normalizeH="0" baseline="0" noProof="0" dirty="0">
                          <a:ln>
                            <a:noFill/>
                          </a:ln>
                          <a:solidFill>
                            <a:srgbClr val="EF6C00"/>
                          </a:solidFill>
                          <a:effectLst/>
                          <a:uLnTx/>
                          <a:uFillTx/>
                          <a:latin typeface="Courier New"/>
                          <a:ea typeface="Courier New"/>
                          <a:cs typeface="Courier New"/>
                          <a:sym typeface="Courier New"/>
                        </a:rPr>
                        <a:t>Matrix</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1" i="0" u="none" strike="noStrike" kern="0" cap="none" spc="0" normalizeH="0" baseline="0" noProof="0" dirty="0">
                          <a:ln>
                            <a:noFill/>
                          </a:ln>
                          <a:solidFill>
                            <a:srgbClr val="EF6C00"/>
                          </a:solidFill>
                          <a:effectLst/>
                          <a:uLnTx/>
                          <a:uFillTx/>
                          <a:latin typeface="Courier New"/>
                          <a:cs typeface="Courier New"/>
                          <a:sym typeface="Courier New"/>
                        </a:rPr>
                        <a:t>&amp;</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1" i="0" u="none" strike="noStrike" kern="0" cap="none" spc="0" normalizeH="0" baseline="0" noProof="0" dirty="0">
                          <a:ln>
                            <a:noFill/>
                          </a:ln>
                          <a:solidFill>
                            <a:srgbClr val="EF6C00"/>
                          </a:solidFill>
                          <a:effectLst/>
                          <a:uLnTx/>
                          <a:uFillTx/>
                          <a:latin typeface="Courier New"/>
                          <a:cs typeface="Courier New"/>
                          <a:sym typeface="Courier New"/>
                        </a:rPr>
                        <a:t>Acc</a:t>
                      </a:r>
                      <a:endParaRPr lang="en-US" sz="1100" dirty="0"/>
                    </a:p>
                  </a:txBody>
                  <a:tcPr anchor="ct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453040792"/>
                  </a:ext>
                </a:extLst>
              </a:tr>
              <a:tr h="1476208">
                <a:tc grid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EF6C00"/>
                          </a:solidFill>
                          <a:effectLst/>
                          <a:uLnTx/>
                          <a:uFillTx/>
                          <a:latin typeface="Courier New"/>
                          <a:ea typeface="Courier New"/>
                          <a:cs typeface="Courier New"/>
                          <a:sym typeface="Courier New"/>
                        </a:rPr>
                        <a:t>Explain model choice:</a:t>
                      </a:r>
                      <a:endParaRPr lang="en-US" sz="1400"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781535333"/>
                  </a:ext>
                </a:extLst>
              </a:tr>
            </a:tbl>
          </a:graphicData>
        </a:graphic>
      </p:graphicFrame>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2376</TotalTime>
  <Words>3258</Words>
  <Application>Microsoft Macintosh PowerPoint</Application>
  <PresentationFormat>On-screen Show (16:9)</PresentationFormat>
  <Paragraphs>96</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Courier New</vt:lpstr>
      <vt:lpstr>Menlo</vt:lpstr>
      <vt:lpstr>Open Sans</vt:lpstr>
      <vt:lpstr>Arial</vt:lpstr>
      <vt:lpstr>PT Sans Narrow</vt:lpstr>
      <vt:lpstr>.AppleSystemUIFontMonospaced</vt:lpstr>
      <vt:lpstr>Tropic</vt:lpstr>
      <vt:lpstr>ECE 157B/272B  Homework 1 Part A</vt:lpstr>
      <vt:lpstr>1. Experiment with at least one value of the VOCAB_SIZE parameter other than the default 20,000. How does changing this value affect how much text is returned by the example batch decoding under Generate input and target sequence?</vt:lpstr>
      <vt:lpstr>2. Our example code uses the WordPiece tokenizer to break up the text into numbered tokens for the model to learn. If you print the tokenizer vocabulary with tokenizer.get_vocab() you will find that some tokens start with a “##”. What does this represent to WordPiece during text encoding and decoding?</vt:lpstr>
      <vt:lpstr>3. What does the forward method of our recurrent model object do? Implement this function. (You need only go into the level of detail as shown in the provided code -- you do not have to look up the functionalities of the underlying PyTorch sub-modules. Do describe in brief what purpose each is accomplishing.)</vt:lpstr>
      <vt:lpstr>4. When training, PyTorch makes a “graph” of all the operations we perform so that it can automatically compute the derivatives of the different neural net weights with respect to the loss. Why do we need to detach_ this graph from our state variables between batches? Why not start over with a blank state?</vt:lpstr>
      <vt:lpstr>5. Create a model using the create_model function without training it with train_model. Use this model to generate some text. Does this text appear structured? Does it at least seem Shakespearean? Include at least two samples of at least 20 tokens each and comment on the output.</vt:lpstr>
      <vt:lpstr>6. Train a model using model_type=RNN,LSTM,GRU. For each model, record one generated text of at least 10 tokens that you found interesting for understanding the model behavior. How does each model’s output compare to each other? What happens if you set by_prob=False and by_prob=True?</vt:lpstr>
      <vt:lpstr>ECE 157B/272B  Homework 1 Part B</vt:lpstr>
      <vt:lpstr>1. Make up 3 sentences. Use the tokenizer_toy (as provided in the notebook) to encode and inspect the sentences with a tokenizer trained on shakespeare_train and one trained on daily_dialog_train. Comment on which tokenizer handles each of your sentences “better”. Specify what your definition of “better” is.</vt:lpstr>
      <vt:lpstr>2. Train a vocabulary on each of {shakespeare_train only, daily_dialog_train only, and both}. Why are the peak count of token lengths different between the the three vocabularies? </vt:lpstr>
      <vt:lpstr>3. Use the provided notebook code to tokenize each dataset with each vocabulary. Include the dataset size (after tokenization) for each dataset and vocabulary pair in your report. Which dataset+vocabulary pairing has the largest dataset size? Why? Which has the smallest? Why?</vt:lpstr>
      <vt:lpstr>4. Complete the forward function in RecurrentModel from Part A to implement a recurrent language model. Note your choice of optimizer, model type, and parameters in your report. Then train two language models, one on each dataset, tokenized using the tokenizer trained on both datasets. Test the perplexity of each model on each dataset and place the results in your report slides. Explain why the perplexities are different between the two models on the same dataset.</vt:lpstr>
      <vt:lpstr>5. Complete the accuracy calculation code in train_epoch_classifier and evaluate_classifier. Note your choice of optimizer, model type, and parameters in your report. Then train two language models, one pre-trained with the text generation task, and one randomly initialized, on the daily_dialog emotion classification task. Test the accuracy of each model on the validation set and place the results in your report slides. Explain why the accuracies are different between the two models on the same dataset.</vt:lpstr>
      <vt:lpstr>6. Generate per-class accuracies and confusion matrices for your classifiers with the provided code. Explain why you will choose one classifier over the other. Then use your chosen classifier to generate predictions to upload to the GradeScope autograder alongside your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Edward Ding</cp:lastModifiedBy>
  <cp:revision>26</cp:revision>
  <dcterms:modified xsi:type="dcterms:W3CDTF">2025-01-21T23:13:01Z</dcterms:modified>
</cp:coreProperties>
</file>